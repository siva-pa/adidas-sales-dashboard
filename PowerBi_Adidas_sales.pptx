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8" r:id="rId3"/>
    <p:sldId id="260" r:id="rId4"/>
    <p:sldId id="261" r:id="rId5"/>
    <p:sldId id="262" r:id="rId6"/>
    <p:sldId id="263" r:id="rId7"/>
    <p:sldId id="264" r:id="rId8"/>
    <p:sldId id="298" r:id="rId9"/>
    <p:sldId id="265" r:id="rId10"/>
    <p:sldId id="266" r:id="rId11"/>
    <p:sldId id="299" r:id="rId12"/>
    <p:sldId id="267" r:id="rId13"/>
    <p:sldId id="268" r:id="rId14"/>
    <p:sldId id="259" r:id="rId15"/>
  </p:sldIdLst>
  <p:sldSz cx="12192000" cy="6858000"/>
  <p:notesSz cx="6858000" cy="9144000"/>
  <p:embeddedFontLst>
    <p:embeddedFont>
      <p:font typeface="Libre Baskerville" panose="02000000000000000000" pitchFamily="2" charset="0"/>
      <p:regular r:id="rId17"/>
      <p:bold r:id="rId18"/>
      <p: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C4A6AD-0BDE-4CC8-A4A4-FE08049A58F9}" type="doc">
      <dgm:prSet loTypeId="urn:microsoft.com/office/officeart/2005/8/layout/hProcess4" loCatId="process" qsTypeId="urn:microsoft.com/office/officeart/2005/8/quickstyle/simple1" qsCatId="simple" csTypeId="urn:microsoft.com/office/officeart/2005/8/colors/colorful1" csCatId="colorful"/>
      <dgm:spPr/>
      <dgm:t>
        <a:bodyPr/>
        <a:lstStyle/>
        <a:p>
          <a:endParaRPr lang="en-IN"/>
        </a:p>
      </dgm:t>
    </dgm:pt>
    <dgm:pt modelId="{0C326ADB-78CF-4C3E-8B78-A69D16CB7138}">
      <dgm:prSet/>
      <dgm:spPr/>
      <dgm:t>
        <a:bodyPr/>
        <a:lstStyle/>
        <a:p>
          <a:r>
            <a:rPr lang="en-IN" b="0" i="0">
              <a:latin typeface="Times New Roman" panose="02020603050405020304" pitchFamily="18" charset="0"/>
              <a:cs typeface="Times New Roman" panose="02020603050405020304" pitchFamily="18" charset="0"/>
            </a:rPr>
            <a:t>Power Query</a:t>
          </a:r>
          <a:endParaRPr lang="en-IN">
            <a:latin typeface="Times New Roman" panose="02020603050405020304" pitchFamily="18" charset="0"/>
            <a:cs typeface="Times New Roman" panose="02020603050405020304" pitchFamily="18" charset="0"/>
          </a:endParaRPr>
        </a:p>
      </dgm:t>
    </dgm:pt>
    <dgm:pt modelId="{6C2C6A2B-7D9B-439C-AEE0-8623FDD96F17}" type="parTrans" cxnId="{989644A5-4BE4-4C0D-B24E-574106A2730B}">
      <dgm:prSet/>
      <dgm:spPr/>
      <dgm:t>
        <a:bodyPr/>
        <a:lstStyle/>
        <a:p>
          <a:endParaRPr lang="en-IN">
            <a:latin typeface="Times New Roman" panose="02020603050405020304" pitchFamily="18" charset="0"/>
            <a:cs typeface="Times New Roman" panose="02020603050405020304" pitchFamily="18" charset="0"/>
          </a:endParaRPr>
        </a:p>
      </dgm:t>
    </dgm:pt>
    <dgm:pt modelId="{37EDCA66-7F22-494B-9209-744F12409395}" type="sibTrans" cxnId="{989644A5-4BE4-4C0D-B24E-574106A2730B}">
      <dgm:prSet/>
      <dgm:spPr/>
      <dgm:t>
        <a:bodyPr/>
        <a:lstStyle/>
        <a:p>
          <a:endParaRPr lang="en-IN">
            <a:latin typeface="Times New Roman" panose="02020603050405020304" pitchFamily="18" charset="0"/>
            <a:cs typeface="Times New Roman" panose="02020603050405020304" pitchFamily="18" charset="0"/>
          </a:endParaRPr>
        </a:p>
      </dgm:t>
    </dgm:pt>
    <dgm:pt modelId="{EB92AE4B-AE8F-425F-AF1A-26DA3EEE5987}">
      <dgm:prSet/>
      <dgm:spPr/>
      <dgm:t>
        <a:bodyPr/>
        <a:lstStyle/>
        <a:p>
          <a:r>
            <a:rPr lang="en-IN" b="0" i="0" dirty="0">
              <a:latin typeface="Times New Roman" panose="02020603050405020304" pitchFamily="18" charset="0"/>
              <a:cs typeface="Times New Roman" panose="02020603050405020304" pitchFamily="18" charset="0"/>
            </a:rPr>
            <a:t>Used </a:t>
          </a:r>
          <a:r>
            <a:rPr lang="en-US" b="0" i="0" dirty="0">
              <a:latin typeface="Times New Roman" panose="02020603050405020304" pitchFamily="18" charset="0"/>
              <a:cs typeface="Times New Roman" panose="02020603050405020304" pitchFamily="18" charset="0"/>
            </a:rPr>
            <a:t>for data cleaning and transformation</a:t>
          </a:r>
          <a:r>
            <a:rPr lang="en-IN" b="0" i="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dgm:t>
    </dgm:pt>
    <dgm:pt modelId="{9F7C67F8-6CD3-4B25-BDE6-6941B99D191E}" type="parTrans" cxnId="{8B9D2B54-4B23-4C64-B1A2-7DD49460A74F}">
      <dgm:prSet/>
      <dgm:spPr/>
      <dgm:t>
        <a:bodyPr/>
        <a:lstStyle/>
        <a:p>
          <a:endParaRPr lang="en-IN">
            <a:latin typeface="Times New Roman" panose="02020603050405020304" pitchFamily="18" charset="0"/>
            <a:cs typeface="Times New Roman" panose="02020603050405020304" pitchFamily="18" charset="0"/>
          </a:endParaRPr>
        </a:p>
      </dgm:t>
    </dgm:pt>
    <dgm:pt modelId="{6CE629DD-4F92-406B-BA0B-2DC2BFF63769}" type="sibTrans" cxnId="{8B9D2B54-4B23-4C64-B1A2-7DD49460A74F}">
      <dgm:prSet/>
      <dgm:spPr/>
      <dgm:t>
        <a:bodyPr/>
        <a:lstStyle/>
        <a:p>
          <a:endParaRPr lang="en-IN">
            <a:latin typeface="Times New Roman" panose="02020603050405020304" pitchFamily="18" charset="0"/>
            <a:cs typeface="Times New Roman" panose="02020603050405020304" pitchFamily="18" charset="0"/>
          </a:endParaRPr>
        </a:p>
      </dgm:t>
    </dgm:pt>
    <dgm:pt modelId="{FCC3A178-756D-4572-81C1-1A53AAC13455}">
      <dgm:prSet/>
      <dgm:spPr/>
      <dgm:t>
        <a:bodyPr/>
        <a:lstStyle/>
        <a:p>
          <a:r>
            <a:rPr lang="en-IN" b="0" i="0">
              <a:latin typeface="Times New Roman" panose="02020603050405020304" pitchFamily="18" charset="0"/>
              <a:cs typeface="Times New Roman" panose="02020603050405020304" pitchFamily="18" charset="0"/>
            </a:rPr>
            <a:t>DAX</a:t>
          </a:r>
          <a:endParaRPr lang="en-IN">
            <a:latin typeface="Times New Roman" panose="02020603050405020304" pitchFamily="18" charset="0"/>
            <a:cs typeface="Times New Roman" panose="02020603050405020304" pitchFamily="18" charset="0"/>
          </a:endParaRPr>
        </a:p>
      </dgm:t>
    </dgm:pt>
    <dgm:pt modelId="{3B72EEF3-C726-47B6-AA21-28A54601BD49}" type="parTrans" cxnId="{170B4BF6-40A8-4DDA-9995-701D626DB33A}">
      <dgm:prSet/>
      <dgm:spPr/>
      <dgm:t>
        <a:bodyPr/>
        <a:lstStyle/>
        <a:p>
          <a:endParaRPr lang="en-IN">
            <a:latin typeface="Times New Roman" panose="02020603050405020304" pitchFamily="18" charset="0"/>
            <a:cs typeface="Times New Roman" panose="02020603050405020304" pitchFamily="18" charset="0"/>
          </a:endParaRPr>
        </a:p>
      </dgm:t>
    </dgm:pt>
    <dgm:pt modelId="{A6DC542B-0110-47F0-A4B0-D1E2BE12B47A}" type="sibTrans" cxnId="{170B4BF6-40A8-4DDA-9995-701D626DB33A}">
      <dgm:prSet/>
      <dgm:spPr/>
      <dgm:t>
        <a:bodyPr/>
        <a:lstStyle/>
        <a:p>
          <a:endParaRPr lang="en-IN">
            <a:latin typeface="Times New Roman" panose="02020603050405020304" pitchFamily="18" charset="0"/>
            <a:cs typeface="Times New Roman" panose="02020603050405020304" pitchFamily="18" charset="0"/>
          </a:endParaRPr>
        </a:p>
      </dgm:t>
    </dgm:pt>
    <dgm:pt modelId="{A914110F-3991-4872-88CE-3FD1EDBD0283}">
      <dgm:prSet/>
      <dgm:spPr/>
      <dgm:t>
        <a:bodyPr/>
        <a:lstStyle/>
        <a:p>
          <a:r>
            <a:rPr lang="en-IN" b="0" i="0">
              <a:latin typeface="Times New Roman" panose="02020603050405020304" pitchFamily="18" charset="0"/>
              <a:cs typeface="Times New Roman" panose="02020603050405020304" pitchFamily="18" charset="0"/>
            </a:rPr>
            <a:t>Used for creating new measures and calculations.</a:t>
          </a:r>
          <a:endParaRPr lang="en-IN">
            <a:latin typeface="Times New Roman" panose="02020603050405020304" pitchFamily="18" charset="0"/>
            <a:cs typeface="Times New Roman" panose="02020603050405020304" pitchFamily="18" charset="0"/>
          </a:endParaRPr>
        </a:p>
      </dgm:t>
    </dgm:pt>
    <dgm:pt modelId="{6BFE1ED1-8FC9-420C-AEE9-6F56D524D9D6}" type="parTrans" cxnId="{67E85087-1609-4D28-AA6D-A7C45F5BF959}">
      <dgm:prSet/>
      <dgm:spPr/>
      <dgm:t>
        <a:bodyPr/>
        <a:lstStyle/>
        <a:p>
          <a:endParaRPr lang="en-IN">
            <a:latin typeface="Times New Roman" panose="02020603050405020304" pitchFamily="18" charset="0"/>
            <a:cs typeface="Times New Roman" panose="02020603050405020304" pitchFamily="18" charset="0"/>
          </a:endParaRPr>
        </a:p>
      </dgm:t>
    </dgm:pt>
    <dgm:pt modelId="{5C0B20B3-3B68-4544-93C9-E4476EC3D639}" type="sibTrans" cxnId="{67E85087-1609-4D28-AA6D-A7C45F5BF959}">
      <dgm:prSet/>
      <dgm:spPr/>
      <dgm:t>
        <a:bodyPr/>
        <a:lstStyle/>
        <a:p>
          <a:endParaRPr lang="en-IN">
            <a:latin typeface="Times New Roman" panose="02020603050405020304" pitchFamily="18" charset="0"/>
            <a:cs typeface="Times New Roman" panose="02020603050405020304" pitchFamily="18" charset="0"/>
          </a:endParaRPr>
        </a:p>
      </dgm:t>
    </dgm:pt>
    <dgm:pt modelId="{6874C2EC-F293-4CD4-B7A5-5DD6EC7BEFE8}">
      <dgm:prSet/>
      <dgm:spPr/>
      <dgm:t>
        <a:bodyPr/>
        <a:lstStyle/>
        <a:p>
          <a:r>
            <a:rPr lang="en-IN" b="0" i="0">
              <a:latin typeface="Times New Roman" panose="02020603050405020304" pitchFamily="18" charset="0"/>
              <a:cs typeface="Times New Roman" panose="02020603050405020304" pitchFamily="18" charset="0"/>
            </a:rPr>
            <a:t>Power View</a:t>
          </a:r>
          <a:endParaRPr lang="en-IN">
            <a:latin typeface="Times New Roman" panose="02020603050405020304" pitchFamily="18" charset="0"/>
            <a:cs typeface="Times New Roman" panose="02020603050405020304" pitchFamily="18" charset="0"/>
          </a:endParaRPr>
        </a:p>
      </dgm:t>
    </dgm:pt>
    <dgm:pt modelId="{79DA898B-83AD-4B03-9DEF-1CD299F24CB5}" type="parTrans" cxnId="{471FC2FF-E436-402C-9779-E9E78AF084B8}">
      <dgm:prSet/>
      <dgm:spPr/>
      <dgm:t>
        <a:bodyPr/>
        <a:lstStyle/>
        <a:p>
          <a:endParaRPr lang="en-IN">
            <a:latin typeface="Times New Roman" panose="02020603050405020304" pitchFamily="18" charset="0"/>
            <a:cs typeface="Times New Roman" panose="02020603050405020304" pitchFamily="18" charset="0"/>
          </a:endParaRPr>
        </a:p>
      </dgm:t>
    </dgm:pt>
    <dgm:pt modelId="{8ED2FCE6-A06D-45A9-9FFD-8F6284C99B5B}" type="sibTrans" cxnId="{471FC2FF-E436-402C-9779-E9E78AF084B8}">
      <dgm:prSet/>
      <dgm:spPr/>
      <dgm:t>
        <a:bodyPr/>
        <a:lstStyle/>
        <a:p>
          <a:endParaRPr lang="en-IN">
            <a:latin typeface="Times New Roman" panose="02020603050405020304" pitchFamily="18" charset="0"/>
            <a:cs typeface="Times New Roman" panose="02020603050405020304" pitchFamily="18" charset="0"/>
          </a:endParaRPr>
        </a:p>
      </dgm:t>
    </dgm:pt>
    <dgm:pt modelId="{173A20AE-73CC-48E7-897B-1F82AE0D50BB}">
      <dgm:prSet/>
      <dgm:spPr/>
      <dgm:t>
        <a:bodyPr/>
        <a:lstStyle/>
        <a:p>
          <a:pPr algn="l"/>
          <a:r>
            <a:rPr lang="en-IN" b="0" i="0" dirty="0">
              <a:latin typeface="Times New Roman" panose="02020603050405020304" pitchFamily="18" charset="0"/>
              <a:cs typeface="Times New Roman" panose="02020603050405020304" pitchFamily="18" charset="0"/>
            </a:rPr>
            <a:t>Used for creating interactive reports &amp; Dashboards.</a:t>
          </a:r>
          <a:endParaRPr lang="en-IN" dirty="0">
            <a:latin typeface="Times New Roman" panose="02020603050405020304" pitchFamily="18" charset="0"/>
            <a:cs typeface="Times New Roman" panose="02020603050405020304" pitchFamily="18" charset="0"/>
          </a:endParaRPr>
        </a:p>
      </dgm:t>
    </dgm:pt>
    <dgm:pt modelId="{5E115B6E-BB06-4B60-A64F-A36923C24158}" type="parTrans" cxnId="{906E28EF-9D4A-42CC-8DC4-F15697FB83F6}">
      <dgm:prSet/>
      <dgm:spPr/>
      <dgm:t>
        <a:bodyPr/>
        <a:lstStyle/>
        <a:p>
          <a:endParaRPr lang="en-IN">
            <a:latin typeface="Times New Roman" panose="02020603050405020304" pitchFamily="18" charset="0"/>
            <a:cs typeface="Times New Roman" panose="02020603050405020304" pitchFamily="18" charset="0"/>
          </a:endParaRPr>
        </a:p>
      </dgm:t>
    </dgm:pt>
    <dgm:pt modelId="{D74DC203-58B9-4748-B448-B37EC4FC226B}" type="sibTrans" cxnId="{906E28EF-9D4A-42CC-8DC4-F15697FB83F6}">
      <dgm:prSet/>
      <dgm:spPr/>
      <dgm:t>
        <a:bodyPr/>
        <a:lstStyle/>
        <a:p>
          <a:endParaRPr lang="en-IN">
            <a:latin typeface="Times New Roman" panose="02020603050405020304" pitchFamily="18" charset="0"/>
            <a:cs typeface="Times New Roman" panose="02020603050405020304" pitchFamily="18" charset="0"/>
          </a:endParaRPr>
        </a:p>
      </dgm:t>
    </dgm:pt>
    <dgm:pt modelId="{843C8C2C-07E9-441B-AF54-BFB3CF43D377}">
      <dgm:prSet/>
      <dgm:spPr/>
      <dgm:t>
        <a:bodyPr/>
        <a:lstStyle/>
        <a:p>
          <a:r>
            <a:rPr lang="en-IN" b="0" i="0">
              <a:latin typeface="Times New Roman" panose="02020603050405020304" pitchFamily="18" charset="0"/>
              <a:cs typeface="Times New Roman" panose="02020603050405020304" pitchFamily="18" charset="0"/>
            </a:rPr>
            <a:t>Power BI Service</a:t>
          </a:r>
          <a:endParaRPr lang="en-IN">
            <a:latin typeface="Times New Roman" panose="02020603050405020304" pitchFamily="18" charset="0"/>
            <a:cs typeface="Times New Roman" panose="02020603050405020304" pitchFamily="18" charset="0"/>
          </a:endParaRPr>
        </a:p>
      </dgm:t>
    </dgm:pt>
    <dgm:pt modelId="{AA49AE12-A2A4-4EA9-9595-D8666475E774}" type="parTrans" cxnId="{F306C7C2-1AF4-4BCD-BDFF-DAACC2415835}">
      <dgm:prSet/>
      <dgm:spPr/>
      <dgm:t>
        <a:bodyPr/>
        <a:lstStyle/>
        <a:p>
          <a:endParaRPr lang="en-IN">
            <a:latin typeface="Times New Roman" panose="02020603050405020304" pitchFamily="18" charset="0"/>
            <a:cs typeface="Times New Roman" panose="02020603050405020304" pitchFamily="18" charset="0"/>
          </a:endParaRPr>
        </a:p>
      </dgm:t>
    </dgm:pt>
    <dgm:pt modelId="{2D7CE33B-AAD6-4110-8058-6C5D2AF4F483}" type="sibTrans" cxnId="{F306C7C2-1AF4-4BCD-BDFF-DAACC2415835}">
      <dgm:prSet/>
      <dgm:spPr/>
      <dgm:t>
        <a:bodyPr/>
        <a:lstStyle/>
        <a:p>
          <a:endParaRPr lang="en-IN">
            <a:latin typeface="Times New Roman" panose="02020603050405020304" pitchFamily="18" charset="0"/>
            <a:cs typeface="Times New Roman" panose="02020603050405020304" pitchFamily="18" charset="0"/>
          </a:endParaRPr>
        </a:p>
      </dgm:t>
    </dgm:pt>
    <dgm:pt modelId="{2EA4B513-82F9-49EC-BF46-23EB89B7F10B}">
      <dgm:prSet/>
      <dgm:spPr/>
      <dgm:t>
        <a:bodyPr/>
        <a:lstStyle/>
        <a:p>
          <a:pPr algn="l"/>
          <a:r>
            <a:rPr lang="en-IN" b="0" i="0" dirty="0">
              <a:latin typeface="Times New Roman" panose="02020603050405020304" pitchFamily="18" charset="0"/>
              <a:cs typeface="Times New Roman" panose="02020603050405020304" pitchFamily="18" charset="0"/>
            </a:rPr>
            <a:t>Used </a:t>
          </a:r>
          <a:r>
            <a:rPr lang="en-US" b="0" i="0" dirty="0">
              <a:latin typeface="Times New Roman" panose="02020603050405020304" pitchFamily="18" charset="0"/>
              <a:cs typeface="Times New Roman" panose="02020603050405020304" pitchFamily="18" charset="0"/>
            </a:rPr>
            <a:t>for publishing, sharing, and collaboration.</a:t>
          </a:r>
          <a:endParaRPr lang="en-IN" dirty="0">
            <a:latin typeface="Times New Roman" panose="02020603050405020304" pitchFamily="18" charset="0"/>
            <a:cs typeface="Times New Roman" panose="02020603050405020304" pitchFamily="18" charset="0"/>
          </a:endParaRPr>
        </a:p>
      </dgm:t>
    </dgm:pt>
    <dgm:pt modelId="{98C0C8D4-7358-4BD2-981B-982E912C644E}" type="parTrans" cxnId="{86322FCE-255B-4C03-8EE1-924077738FF9}">
      <dgm:prSet/>
      <dgm:spPr/>
      <dgm:t>
        <a:bodyPr/>
        <a:lstStyle/>
        <a:p>
          <a:endParaRPr lang="en-IN">
            <a:latin typeface="Times New Roman" panose="02020603050405020304" pitchFamily="18" charset="0"/>
            <a:cs typeface="Times New Roman" panose="02020603050405020304" pitchFamily="18" charset="0"/>
          </a:endParaRPr>
        </a:p>
      </dgm:t>
    </dgm:pt>
    <dgm:pt modelId="{35BE6B20-1618-4F38-885F-DA4E5D4B6BB6}" type="sibTrans" cxnId="{86322FCE-255B-4C03-8EE1-924077738FF9}">
      <dgm:prSet/>
      <dgm:spPr/>
      <dgm:t>
        <a:bodyPr/>
        <a:lstStyle/>
        <a:p>
          <a:endParaRPr lang="en-IN">
            <a:latin typeface="Times New Roman" panose="02020603050405020304" pitchFamily="18" charset="0"/>
            <a:cs typeface="Times New Roman" panose="02020603050405020304" pitchFamily="18" charset="0"/>
          </a:endParaRPr>
        </a:p>
      </dgm:t>
    </dgm:pt>
    <dgm:pt modelId="{56188A86-B828-446F-8DC2-C388BE733D1F}" type="pres">
      <dgm:prSet presAssocID="{A8C4A6AD-0BDE-4CC8-A4A4-FE08049A58F9}" presName="Name0" presStyleCnt="0">
        <dgm:presLayoutVars>
          <dgm:dir/>
          <dgm:animLvl val="lvl"/>
          <dgm:resizeHandles val="exact"/>
        </dgm:presLayoutVars>
      </dgm:prSet>
      <dgm:spPr/>
    </dgm:pt>
    <dgm:pt modelId="{3B1C45ED-8A34-4E86-A32E-BBA26D124A60}" type="pres">
      <dgm:prSet presAssocID="{A8C4A6AD-0BDE-4CC8-A4A4-FE08049A58F9}" presName="tSp" presStyleCnt="0"/>
      <dgm:spPr/>
    </dgm:pt>
    <dgm:pt modelId="{65BCCD43-3806-4DB9-9ACA-4C872091EBE7}" type="pres">
      <dgm:prSet presAssocID="{A8C4A6AD-0BDE-4CC8-A4A4-FE08049A58F9}" presName="bSp" presStyleCnt="0"/>
      <dgm:spPr/>
    </dgm:pt>
    <dgm:pt modelId="{A54B7DF2-C726-4CDC-B9B4-08E6D528FF0A}" type="pres">
      <dgm:prSet presAssocID="{A8C4A6AD-0BDE-4CC8-A4A4-FE08049A58F9}" presName="process" presStyleCnt="0"/>
      <dgm:spPr/>
    </dgm:pt>
    <dgm:pt modelId="{15BDFB94-1792-4E59-B538-F39A7D18DA19}" type="pres">
      <dgm:prSet presAssocID="{0C326ADB-78CF-4C3E-8B78-A69D16CB7138}" presName="composite1" presStyleCnt="0"/>
      <dgm:spPr/>
    </dgm:pt>
    <dgm:pt modelId="{2B51BE1E-ADFD-49C9-9B0D-0AEA35400BDC}" type="pres">
      <dgm:prSet presAssocID="{0C326ADB-78CF-4C3E-8B78-A69D16CB7138}" presName="dummyNode1" presStyleLbl="node1" presStyleIdx="0" presStyleCnt="4"/>
      <dgm:spPr/>
    </dgm:pt>
    <dgm:pt modelId="{AE0FFC6F-4D13-4488-91E3-5E4BC642E800}" type="pres">
      <dgm:prSet presAssocID="{0C326ADB-78CF-4C3E-8B78-A69D16CB7138}" presName="childNode1" presStyleLbl="bgAcc1" presStyleIdx="0" presStyleCnt="4">
        <dgm:presLayoutVars>
          <dgm:bulletEnabled val="1"/>
        </dgm:presLayoutVars>
      </dgm:prSet>
      <dgm:spPr/>
    </dgm:pt>
    <dgm:pt modelId="{CE8723DA-F0BA-48C3-9FAC-0CC3313C0392}" type="pres">
      <dgm:prSet presAssocID="{0C326ADB-78CF-4C3E-8B78-A69D16CB7138}" presName="childNode1tx" presStyleLbl="bgAcc1" presStyleIdx="0" presStyleCnt="4">
        <dgm:presLayoutVars>
          <dgm:bulletEnabled val="1"/>
        </dgm:presLayoutVars>
      </dgm:prSet>
      <dgm:spPr/>
    </dgm:pt>
    <dgm:pt modelId="{204CE96A-0C2F-4207-9558-FEADCBC29760}" type="pres">
      <dgm:prSet presAssocID="{0C326ADB-78CF-4C3E-8B78-A69D16CB7138}" presName="parentNode1" presStyleLbl="node1" presStyleIdx="0" presStyleCnt="4">
        <dgm:presLayoutVars>
          <dgm:chMax val="1"/>
          <dgm:bulletEnabled val="1"/>
        </dgm:presLayoutVars>
      </dgm:prSet>
      <dgm:spPr/>
    </dgm:pt>
    <dgm:pt modelId="{F875D936-B7CD-4E62-9190-97FD99E6C651}" type="pres">
      <dgm:prSet presAssocID="{0C326ADB-78CF-4C3E-8B78-A69D16CB7138}" presName="connSite1" presStyleCnt="0"/>
      <dgm:spPr/>
    </dgm:pt>
    <dgm:pt modelId="{266D6A4D-523C-497E-B282-19979E9D5E21}" type="pres">
      <dgm:prSet presAssocID="{37EDCA66-7F22-494B-9209-744F12409395}" presName="Name9" presStyleLbl="sibTrans2D1" presStyleIdx="0" presStyleCnt="3"/>
      <dgm:spPr/>
    </dgm:pt>
    <dgm:pt modelId="{2BB9BB54-C3F0-4DF6-B51A-FC21A106F471}" type="pres">
      <dgm:prSet presAssocID="{FCC3A178-756D-4572-81C1-1A53AAC13455}" presName="composite2" presStyleCnt="0"/>
      <dgm:spPr/>
    </dgm:pt>
    <dgm:pt modelId="{ED287C39-69D3-4F4E-829F-262A748137B4}" type="pres">
      <dgm:prSet presAssocID="{FCC3A178-756D-4572-81C1-1A53AAC13455}" presName="dummyNode2" presStyleLbl="node1" presStyleIdx="0" presStyleCnt="4"/>
      <dgm:spPr/>
    </dgm:pt>
    <dgm:pt modelId="{3D575545-79ED-40B6-AC0C-46941B3576ED}" type="pres">
      <dgm:prSet presAssocID="{FCC3A178-756D-4572-81C1-1A53AAC13455}" presName="childNode2" presStyleLbl="bgAcc1" presStyleIdx="1" presStyleCnt="4">
        <dgm:presLayoutVars>
          <dgm:bulletEnabled val="1"/>
        </dgm:presLayoutVars>
      </dgm:prSet>
      <dgm:spPr/>
    </dgm:pt>
    <dgm:pt modelId="{4A3C8BA4-CE06-4E0A-93DB-CE0AF7F92F87}" type="pres">
      <dgm:prSet presAssocID="{FCC3A178-756D-4572-81C1-1A53AAC13455}" presName="childNode2tx" presStyleLbl="bgAcc1" presStyleIdx="1" presStyleCnt="4">
        <dgm:presLayoutVars>
          <dgm:bulletEnabled val="1"/>
        </dgm:presLayoutVars>
      </dgm:prSet>
      <dgm:spPr/>
    </dgm:pt>
    <dgm:pt modelId="{FCC1C1DB-CF8E-4871-ACE6-FB2BA9B77278}" type="pres">
      <dgm:prSet presAssocID="{FCC3A178-756D-4572-81C1-1A53AAC13455}" presName="parentNode2" presStyleLbl="node1" presStyleIdx="1" presStyleCnt="4">
        <dgm:presLayoutVars>
          <dgm:chMax val="0"/>
          <dgm:bulletEnabled val="1"/>
        </dgm:presLayoutVars>
      </dgm:prSet>
      <dgm:spPr/>
    </dgm:pt>
    <dgm:pt modelId="{19423B80-6CC5-4AC8-A1F6-C8CCADF7A503}" type="pres">
      <dgm:prSet presAssocID="{FCC3A178-756D-4572-81C1-1A53AAC13455}" presName="connSite2" presStyleCnt="0"/>
      <dgm:spPr/>
    </dgm:pt>
    <dgm:pt modelId="{F60CFDB8-025D-4BDC-95C7-24E5C5593BFA}" type="pres">
      <dgm:prSet presAssocID="{A6DC542B-0110-47F0-A4B0-D1E2BE12B47A}" presName="Name18" presStyleLbl="sibTrans2D1" presStyleIdx="1" presStyleCnt="3"/>
      <dgm:spPr/>
    </dgm:pt>
    <dgm:pt modelId="{EF5B849C-215F-450C-8E83-76B28EB214F0}" type="pres">
      <dgm:prSet presAssocID="{6874C2EC-F293-4CD4-B7A5-5DD6EC7BEFE8}" presName="composite1" presStyleCnt="0"/>
      <dgm:spPr/>
    </dgm:pt>
    <dgm:pt modelId="{2584FD32-065A-4FEA-9A5D-9779A7AD9C7A}" type="pres">
      <dgm:prSet presAssocID="{6874C2EC-F293-4CD4-B7A5-5DD6EC7BEFE8}" presName="dummyNode1" presStyleLbl="node1" presStyleIdx="1" presStyleCnt="4"/>
      <dgm:spPr/>
    </dgm:pt>
    <dgm:pt modelId="{3DAE6693-AA10-4AEF-AF09-A03733DA3BAE}" type="pres">
      <dgm:prSet presAssocID="{6874C2EC-F293-4CD4-B7A5-5DD6EC7BEFE8}" presName="childNode1" presStyleLbl="bgAcc1" presStyleIdx="2" presStyleCnt="4">
        <dgm:presLayoutVars>
          <dgm:bulletEnabled val="1"/>
        </dgm:presLayoutVars>
      </dgm:prSet>
      <dgm:spPr/>
    </dgm:pt>
    <dgm:pt modelId="{F71C8E7A-C3AB-4EA4-A736-EE87E05D7056}" type="pres">
      <dgm:prSet presAssocID="{6874C2EC-F293-4CD4-B7A5-5DD6EC7BEFE8}" presName="childNode1tx" presStyleLbl="bgAcc1" presStyleIdx="2" presStyleCnt="4">
        <dgm:presLayoutVars>
          <dgm:bulletEnabled val="1"/>
        </dgm:presLayoutVars>
      </dgm:prSet>
      <dgm:spPr/>
    </dgm:pt>
    <dgm:pt modelId="{03E112B1-262B-44EC-81D2-5202BEF96696}" type="pres">
      <dgm:prSet presAssocID="{6874C2EC-F293-4CD4-B7A5-5DD6EC7BEFE8}" presName="parentNode1" presStyleLbl="node1" presStyleIdx="2" presStyleCnt="4">
        <dgm:presLayoutVars>
          <dgm:chMax val="1"/>
          <dgm:bulletEnabled val="1"/>
        </dgm:presLayoutVars>
      </dgm:prSet>
      <dgm:spPr/>
    </dgm:pt>
    <dgm:pt modelId="{B901D4C5-94C0-4F80-AADE-D9673A675636}" type="pres">
      <dgm:prSet presAssocID="{6874C2EC-F293-4CD4-B7A5-5DD6EC7BEFE8}" presName="connSite1" presStyleCnt="0"/>
      <dgm:spPr/>
    </dgm:pt>
    <dgm:pt modelId="{64B9F3D4-22B3-434A-8661-CA1F5CACBAF8}" type="pres">
      <dgm:prSet presAssocID="{8ED2FCE6-A06D-45A9-9FFD-8F6284C99B5B}" presName="Name9" presStyleLbl="sibTrans2D1" presStyleIdx="2" presStyleCnt="3"/>
      <dgm:spPr/>
    </dgm:pt>
    <dgm:pt modelId="{9A41C28B-490F-4FD5-B1C0-13D693A43662}" type="pres">
      <dgm:prSet presAssocID="{843C8C2C-07E9-441B-AF54-BFB3CF43D377}" presName="composite2" presStyleCnt="0"/>
      <dgm:spPr/>
    </dgm:pt>
    <dgm:pt modelId="{8EB7F94B-F1C1-40B4-840B-BCA70D042933}" type="pres">
      <dgm:prSet presAssocID="{843C8C2C-07E9-441B-AF54-BFB3CF43D377}" presName="dummyNode2" presStyleLbl="node1" presStyleIdx="2" presStyleCnt="4"/>
      <dgm:spPr/>
    </dgm:pt>
    <dgm:pt modelId="{43B2F0C3-EE86-48EE-93FC-620E700BC7E1}" type="pres">
      <dgm:prSet presAssocID="{843C8C2C-07E9-441B-AF54-BFB3CF43D377}" presName="childNode2" presStyleLbl="bgAcc1" presStyleIdx="3" presStyleCnt="4">
        <dgm:presLayoutVars>
          <dgm:bulletEnabled val="1"/>
        </dgm:presLayoutVars>
      </dgm:prSet>
      <dgm:spPr/>
    </dgm:pt>
    <dgm:pt modelId="{AF7182ED-A42D-4D88-9EDF-5DCCC0A7FF5B}" type="pres">
      <dgm:prSet presAssocID="{843C8C2C-07E9-441B-AF54-BFB3CF43D377}" presName="childNode2tx" presStyleLbl="bgAcc1" presStyleIdx="3" presStyleCnt="4">
        <dgm:presLayoutVars>
          <dgm:bulletEnabled val="1"/>
        </dgm:presLayoutVars>
      </dgm:prSet>
      <dgm:spPr/>
    </dgm:pt>
    <dgm:pt modelId="{D3BAC01E-AD57-454E-930B-3350160CA95B}" type="pres">
      <dgm:prSet presAssocID="{843C8C2C-07E9-441B-AF54-BFB3CF43D377}" presName="parentNode2" presStyleLbl="node1" presStyleIdx="3" presStyleCnt="4">
        <dgm:presLayoutVars>
          <dgm:chMax val="0"/>
          <dgm:bulletEnabled val="1"/>
        </dgm:presLayoutVars>
      </dgm:prSet>
      <dgm:spPr/>
    </dgm:pt>
    <dgm:pt modelId="{6EDEC3DB-40E3-4F18-BDF7-1CA821C3D827}" type="pres">
      <dgm:prSet presAssocID="{843C8C2C-07E9-441B-AF54-BFB3CF43D377}" presName="connSite2" presStyleCnt="0"/>
      <dgm:spPr/>
    </dgm:pt>
  </dgm:ptLst>
  <dgm:cxnLst>
    <dgm:cxn modelId="{971D6C20-FCCC-49D9-8D44-66501ABD92CA}" type="presOf" srcId="{843C8C2C-07E9-441B-AF54-BFB3CF43D377}" destId="{D3BAC01E-AD57-454E-930B-3350160CA95B}" srcOrd="0" destOrd="0" presId="urn:microsoft.com/office/officeart/2005/8/layout/hProcess4"/>
    <dgm:cxn modelId="{F3492439-37F2-483F-8482-FD140B50695D}" type="presOf" srcId="{A8C4A6AD-0BDE-4CC8-A4A4-FE08049A58F9}" destId="{56188A86-B828-446F-8DC2-C388BE733D1F}" srcOrd="0" destOrd="0" presId="urn:microsoft.com/office/officeart/2005/8/layout/hProcess4"/>
    <dgm:cxn modelId="{5738CE71-F7CD-4E40-9D6D-5587498C5BFA}" type="presOf" srcId="{6874C2EC-F293-4CD4-B7A5-5DD6EC7BEFE8}" destId="{03E112B1-262B-44EC-81D2-5202BEF96696}" srcOrd="0" destOrd="0" presId="urn:microsoft.com/office/officeart/2005/8/layout/hProcess4"/>
    <dgm:cxn modelId="{8B9D2B54-4B23-4C64-B1A2-7DD49460A74F}" srcId="{0C326ADB-78CF-4C3E-8B78-A69D16CB7138}" destId="{EB92AE4B-AE8F-425F-AF1A-26DA3EEE5987}" srcOrd="0" destOrd="0" parTransId="{9F7C67F8-6CD3-4B25-BDE6-6941B99D191E}" sibTransId="{6CE629DD-4F92-406B-BA0B-2DC2BFF63769}"/>
    <dgm:cxn modelId="{67E85087-1609-4D28-AA6D-A7C45F5BF959}" srcId="{FCC3A178-756D-4572-81C1-1A53AAC13455}" destId="{A914110F-3991-4872-88CE-3FD1EDBD0283}" srcOrd="0" destOrd="0" parTransId="{6BFE1ED1-8FC9-420C-AEE9-6F56D524D9D6}" sibTransId="{5C0B20B3-3B68-4544-93C9-E4476EC3D639}"/>
    <dgm:cxn modelId="{198E9B9C-8BF7-428B-9FC6-7533FADF440E}" type="presOf" srcId="{2EA4B513-82F9-49EC-BF46-23EB89B7F10B}" destId="{43B2F0C3-EE86-48EE-93FC-620E700BC7E1}" srcOrd="0" destOrd="0" presId="urn:microsoft.com/office/officeart/2005/8/layout/hProcess4"/>
    <dgm:cxn modelId="{BC07049D-122E-4358-98C2-0FCBA2E10FFD}" type="presOf" srcId="{FCC3A178-756D-4572-81C1-1A53AAC13455}" destId="{FCC1C1DB-CF8E-4871-ACE6-FB2BA9B77278}" srcOrd="0" destOrd="0" presId="urn:microsoft.com/office/officeart/2005/8/layout/hProcess4"/>
    <dgm:cxn modelId="{989644A5-4BE4-4C0D-B24E-574106A2730B}" srcId="{A8C4A6AD-0BDE-4CC8-A4A4-FE08049A58F9}" destId="{0C326ADB-78CF-4C3E-8B78-A69D16CB7138}" srcOrd="0" destOrd="0" parTransId="{6C2C6A2B-7D9B-439C-AEE0-8623FDD96F17}" sibTransId="{37EDCA66-7F22-494B-9209-744F12409395}"/>
    <dgm:cxn modelId="{0C5ED9B1-28E5-44BF-8A87-34105F35EBFB}" type="presOf" srcId="{8ED2FCE6-A06D-45A9-9FFD-8F6284C99B5B}" destId="{64B9F3D4-22B3-434A-8661-CA1F5CACBAF8}" srcOrd="0" destOrd="0" presId="urn:microsoft.com/office/officeart/2005/8/layout/hProcess4"/>
    <dgm:cxn modelId="{393B6EBD-2CDC-4E5A-AED3-A36083C3C807}" type="presOf" srcId="{A914110F-3991-4872-88CE-3FD1EDBD0283}" destId="{4A3C8BA4-CE06-4E0A-93DB-CE0AF7F92F87}" srcOrd="1" destOrd="0" presId="urn:microsoft.com/office/officeart/2005/8/layout/hProcess4"/>
    <dgm:cxn modelId="{2534ADC1-B83A-4995-8EAD-02AF07967BFE}" type="presOf" srcId="{2EA4B513-82F9-49EC-BF46-23EB89B7F10B}" destId="{AF7182ED-A42D-4D88-9EDF-5DCCC0A7FF5B}" srcOrd="1" destOrd="0" presId="urn:microsoft.com/office/officeart/2005/8/layout/hProcess4"/>
    <dgm:cxn modelId="{B9ED4DC2-62EA-47D2-8748-E40E5DA0FB22}" type="presOf" srcId="{A914110F-3991-4872-88CE-3FD1EDBD0283}" destId="{3D575545-79ED-40B6-AC0C-46941B3576ED}" srcOrd="0" destOrd="0" presId="urn:microsoft.com/office/officeart/2005/8/layout/hProcess4"/>
    <dgm:cxn modelId="{F306C7C2-1AF4-4BCD-BDFF-DAACC2415835}" srcId="{A8C4A6AD-0BDE-4CC8-A4A4-FE08049A58F9}" destId="{843C8C2C-07E9-441B-AF54-BFB3CF43D377}" srcOrd="3" destOrd="0" parTransId="{AA49AE12-A2A4-4EA9-9595-D8666475E774}" sibTransId="{2D7CE33B-AAD6-4110-8058-6C5D2AF4F483}"/>
    <dgm:cxn modelId="{86322FCE-255B-4C03-8EE1-924077738FF9}" srcId="{843C8C2C-07E9-441B-AF54-BFB3CF43D377}" destId="{2EA4B513-82F9-49EC-BF46-23EB89B7F10B}" srcOrd="0" destOrd="0" parTransId="{98C0C8D4-7358-4BD2-981B-982E912C644E}" sibTransId="{35BE6B20-1618-4F38-885F-DA4E5D4B6BB6}"/>
    <dgm:cxn modelId="{1E1F46CF-EFC4-42E2-9F8A-50C28F2BBC05}" type="presOf" srcId="{EB92AE4B-AE8F-425F-AF1A-26DA3EEE5987}" destId="{AE0FFC6F-4D13-4488-91E3-5E4BC642E800}" srcOrd="0" destOrd="0" presId="urn:microsoft.com/office/officeart/2005/8/layout/hProcess4"/>
    <dgm:cxn modelId="{60B138DF-D073-493B-A2D3-58A995CE269B}" type="presOf" srcId="{37EDCA66-7F22-494B-9209-744F12409395}" destId="{266D6A4D-523C-497E-B282-19979E9D5E21}" srcOrd="0" destOrd="0" presId="urn:microsoft.com/office/officeart/2005/8/layout/hProcess4"/>
    <dgm:cxn modelId="{23408DEE-E65E-402B-BFFA-DF4831A8B51E}" type="presOf" srcId="{0C326ADB-78CF-4C3E-8B78-A69D16CB7138}" destId="{204CE96A-0C2F-4207-9558-FEADCBC29760}" srcOrd="0" destOrd="0" presId="urn:microsoft.com/office/officeart/2005/8/layout/hProcess4"/>
    <dgm:cxn modelId="{906E28EF-9D4A-42CC-8DC4-F15697FB83F6}" srcId="{6874C2EC-F293-4CD4-B7A5-5DD6EC7BEFE8}" destId="{173A20AE-73CC-48E7-897B-1F82AE0D50BB}" srcOrd="0" destOrd="0" parTransId="{5E115B6E-BB06-4B60-A64F-A36923C24158}" sibTransId="{D74DC203-58B9-4748-B448-B37EC4FC226B}"/>
    <dgm:cxn modelId="{22DD28F2-05BF-4663-AB1E-C3557AF72921}" type="presOf" srcId="{173A20AE-73CC-48E7-897B-1F82AE0D50BB}" destId="{F71C8E7A-C3AB-4EA4-A736-EE87E05D7056}" srcOrd="1" destOrd="0" presId="urn:microsoft.com/office/officeart/2005/8/layout/hProcess4"/>
    <dgm:cxn modelId="{170B4BF6-40A8-4DDA-9995-701D626DB33A}" srcId="{A8C4A6AD-0BDE-4CC8-A4A4-FE08049A58F9}" destId="{FCC3A178-756D-4572-81C1-1A53AAC13455}" srcOrd="1" destOrd="0" parTransId="{3B72EEF3-C726-47B6-AA21-28A54601BD49}" sibTransId="{A6DC542B-0110-47F0-A4B0-D1E2BE12B47A}"/>
    <dgm:cxn modelId="{9A6113FB-128D-47E2-8448-CC51924CEDC4}" type="presOf" srcId="{EB92AE4B-AE8F-425F-AF1A-26DA3EEE5987}" destId="{CE8723DA-F0BA-48C3-9FAC-0CC3313C0392}" srcOrd="1" destOrd="0" presId="urn:microsoft.com/office/officeart/2005/8/layout/hProcess4"/>
    <dgm:cxn modelId="{E2517AFD-6422-4BE6-81F8-5C56266171C1}" type="presOf" srcId="{173A20AE-73CC-48E7-897B-1F82AE0D50BB}" destId="{3DAE6693-AA10-4AEF-AF09-A03733DA3BAE}" srcOrd="0" destOrd="0" presId="urn:microsoft.com/office/officeart/2005/8/layout/hProcess4"/>
    <dgm:cxn modelId="{7E79E8FE-874E-4901-BFFE-F9C6447F83D1}" type="presOf" srcId="{A6DC542B-0110-47F0-A4B0-D1E2BE12B47A}" destId="{F60CFDB8-025D-4BDC-95C7-24E5C5593BFA}" srcOrd="0" destOrd="0" presId="urn:microsoft.com/office/officeart/2005/8/layout/hProcess4"/>
    <dgm:cxn modelId="{471FC2FF-E436-402C-9779-E9E78AF084B8}" srcId="{A8C4A6AD-0BDE-4CC8-A4A4-FE08049A58F9}" destId="{6874C2EC-F293-4CD4-B7A5-5DD6EC7BEFE8}" srcOrd="2" destOrd="0" parTransId="{79DA898B-83AD-4B03-9DEF-1CD299F24CB5}" sibTransId="{8ED2FCE6-A06D-45A9-9FFD-8F6284C99B5B}"/>
    <dgm:cxn modelId="{041E2EC0-E1DC-4588-A8F4-0A917A9EC479}" type="presParOf" srcId="{56188A86-B828-446F-8DC2-C388BE733D1F}" destId="{3B1C45ED-8A34-4E86-A32E-BBA26D124A60}" srcOrd="0" destOrd="0" presId="urn:microsoft.com/office/officeart/2005/8/layout/hProcess4"/>
    <dgm:cxn modelId="{C257CC8B-C322-4524-8465-8FF603C46ACD}" type="presParOf" srcId="{56188A86-B828-446F-8DC2-C388BE733D1F}" destId="{65BCCD43-3806-4DB9-9ACA-4C872091EBE7}" srcOrd="1" destOrd="0" presId="urn:microsoft.com/office/officeart/2005/8/layout/hProcess4"/>
    <dgm:cxn modelId="{8EE06BF7-5E80-4FCD-819E-DB9CF3FC79CB}" type="presParOf" srcId="{56188A86-B828-446F-8DC2-C388BE733D1F}" destId="{A54B7DF2-C726-4CDC-B9B4-08E6D528FF0A}" srcOrd="2" destOrd="0" presId="urn:microsoft.com/office/officeart/2005/8/layout/hProcess4"/>
    <dgm:cxn modelId="{36E71877-E7DC-4D17-A37B-36424DC74468}" type="presParOf" srcId="{A54B7DF2-C726-4CDC-B9B4-08E6D528FF0A}" destId="{15BDFB94-1792-4E59-B538-F39A7D18DA19}" srcOrd="0" destOrd="0" presId="urn:microsoft.com/office/officeart/2005/8/layout/hProcess4"/>
    <dgm:cxn modelId="{F95EB43B-5FCE-4637-BC28-D05CFD6D8AD9}" type="presParOf" srcId="{15BDFB94-1792-4E59-B538-F39A7D18DA19}" destId="{2B51BE1E-ADFD-49C9-9B0D-0AEA35400BDC}" srcOrd="0" destOrd="0" presId="urn:microsoft.com/office/officeart/2005/8/layout/hProcess4"/>
    <dgm:cxn modelId="{7E8B2A84-1116-46F0-BB34-D3281517FE15}" type="presParOf" srcId="{15BDFB94-1792-4E59-B538-F39A7D18DA19}" destId="{AE0FFC6F-4D13-4488-91E3-5E4BC642E800}" srcOrd="1" destOrd="0" presId="urn:microsoft.com/office/officeart/2005/8/layout/hProcess4"/>
    <dgm:cxn modelId="{0D3426BC-934C-4B7F-84B0-89C754F4CB55}" type="presParOf" srcId="{15BDFB94-1792-4E59-B538-F39A7D18DA19}" destId="{CE8723DA-F0BA-48C3-9FAC-0CC3313C0392}" srcOrd="2" destOrd="0" presId="urn:microsoft.com/office/officeart/2005/8/layout/hProcess4"/>
    <dgm:cxn modelId="{8C164608-99B4-4943-AD40-035CE882AF8B}" type="presParOf" srcId="{15BDFB94-1792-4E59-B538-F39A7D18DA19}" destId="{204CE96A-0C2F-4207-9558-FEADCBC29760}" srcOrd="3" destOrd="0" presId="urn:microsoft.com/office/officeart/2005/8/layout/hProcess4"/>
    <dgm:cxn modelId="{4385B6B8-C984-4F80-BA22-5995227862BE}" type="presParOf" srcId="{15BDFB94-1792-4E59-B538-F39A7D18DA19}" destId="{F875D936-B7CD-4E62-9190-97FD99E6C651}" srcOrd="4" destOrd="0" presId="urn:microsoft.com/office/officeart/2005/8/layout/hProcess4"/>
    <dgm:cxn modelId="{34194AC0-A0E3-469A-9889-D4E7824B4A05}" type="presParOf" srcId="{A54B7DF2-C726-4CDC-B9B4-08E6D528FF0A}" destId="{266D6A4D-523C-497E-B282-19979E9D5E21}" srcOrd="1" destOrd="0" presId="urn:microsoft.com/office/officeart/2005/8/layout/hProcess4"/>
    <dgm:cxn modelId="{1198D95F-B110-49C8-ACD0-2CB82F231BAF}" type="presParOf" srcId="{A54B7DF2-C726-4CDC-B9B4-08E6D528FF0A}" destId="{2BB9BB54-C3F0-4DF6-B51A-FC21A106F471}" srcOrd="2" destOrd="0" presId="urn:microsoft.com/office/officeart/2005/8/layout/hProcess4"/>
    <dgm:cxn modelId="{F5C15E0F-DBEA-450D-97BD-0E07DD04F813}" type="presParOf" srcId="{2BB9BB54-C3F0-4DF6-B51A-FC21A106F471}" destId="{ED287C39-69D3-4F4E-829F-262A748137B4}" srcOrd="0" destOrd="0" presId="urn:microsoft.com/office/officeart/2005/8/layout/hProcess4"/>
    <dgm:cxn modelId="{ED69C4CF-D01D-413C-ADBB-5AEEAC4E1A1B}" type="presParOf" srcId="{2BB9BB54-C3F0-4DF6-B51A-FC21A106F471}" destId="{3D575545-79ED-40B6-AC0C-46941B3576ED}" srcOrd="1" destOrd="0" presId="urn:microsoft.com/office/officeart/2005/8/layout/hProcess4"/>
    <dgm:cxn modelId="{A3DD2FC4-1ACC-47A5-A3FE-EE4C0708435E}" type="presParOf" srcId="{2BB9BB54-C3F0-4DF6-B51A-FC21A106F471}" destId="{4A3C8BA4-CE06-4E0A-93DB-CE0AF7F92F87}" srcOrd="2" destOrd="0" presId="urn:microsoft.com/office/officeart/2005/8/layout/hProcess4"/>
    <dgm:cxn modelId="{EA70C6FB-B517-4017-817E-3833FE7542EA}" type="presParOf" srcId="{2BB9BB54-C3F0-4DF6-B51A-FC21A106F471}" destId="{FCC1C1DB-CF8E-4871-ACE6-FB2BA9B77278}" srcOrd="3" destOrd="0" presId="urn:microsoft.com/office/officeart/2005/8/layout/hProcess4"/>
    <dgm:cxn modelId="{622D81DC-F1D4-42B6-A9CF-D71AAD102D4C}" type="presParOf" srcId="{2BB9BB54-C3F0-4DF6-B51A-FC21A106F471}" destId="{19423B80-6CC5-4AC8-A1F6-C8CCADF7A503}" srcOrd="4" destOrd="0" presId="urn:microsoft.com/office/officeart/2005/8/layout/hProcess4"/>
    <dgm:cxn modelId="{8FBB7603-DAA8-4876-986B-4E4AA48D0237}" type="presParOf" srcId="{A54B7DF2-C726-4CDC-B9B4-08E6D528FF0A}" destId="{F60CFDB8-025D-4BDC-95C7-24E5C5593BFA}" srcOrd="3" destOrd="0" presId="urn:microsoft.com/office/officeart/2005/8/layout/hProcess4"/>
    <dgm:cxn modelId="{7315DC6A-3ED1-4C53-9FA7-5F98A7BCA7B0}" type="presParOf" srcId="{A54B7DF2-C726-4CDC-B9B4-08E6D528FF0A}" destId="{EF5B849C-215F-450C-8E83-76B28EB214F0}" srcOrd="4" destOrd="0" presId="urn:microsoft.com/office/officeart/2005/8/layout/hProcess4"/>
    <dgm:cxn modelId="{F5A66D32-BFCD-4460-8C84-F47BC52C4813}" type="presParOf" srcId="{EF5B849C-215F-450C-8E83-76B28EB214F0}" destId="{2584FD32-065A-4FEA-9A5D-9779A7AD9C7A}" srcOrd="0" destOrd="0" presId="urn:microsoft.com/office/officeart/2005/8/layout/hProcess4"/>
    <dgm:cxn modelId="{5394947D-5273-46AB-91DE-59167C569F17}" type="presParOf" srcId="{EF5B849C-215F-450C-8E83-76B28EB214F0}" destId="{3DAE6693-AA10-4AEF-AF09-A03733DA3BAE}" srcOrd="1" destOrd="0" presId="urn:microsoft.com/office/officeart/2005/8/layout/hProcess4"/>
    <dgm:cxn modelId="{B973110A-B98D-459D-8A79-F12985891396}" type="presParOf" srcId="{EF5B849C-215F-450C-8E83-76B28EB214F0}" destId="{F71C8E7A-C3AB-4EA4-A736-EE87E05D7056}" srcOrd="2" destOrd="0" presId="urn:microsoft.com/office/officeart/2005/8/layout/hProcess4"/>
    <dgm:cxn modelId="{E27B09CD-ECE5-4D91-9BA7-88DCB24E435A}" type="presParOf" srcId="{EF5B849C-215F-450C-8E83-76B28EB214F0}" destId="{03E112B1-262B-44EC-81D2-5202BEF96696}" srcOrd="3" destOrd="0" presId="urn:microsoft.com/office/officeart/2005/8/layout/hProcess4"/>
    <dgm:cxn modelId="{1DCCD709-DE04-4019-85E8-3B32007FDC2E}" type="presParOf" srcId="{EF5B849C-215F-450C-8E83-76B28EB214F0}" destId="{B901D4C5-94C0-4F80-AADE-D9673A675636}" srcOrd="4" destOrd="0" presId="urn:microsoft.com/office/officeart/2005/8/layout/hProcess4"/>
    <dgm:cxn modelId="{FCE0D389-C6A0-41B5-BE8B-640DB82AE97E}" type="presParOf" srcId="{A54B7DF2-C726-4CDC-B9B4-08E6D528FF0A}" destId="{64B9F3D4-22B3-434A-8661-CA1F5CACBAF8}" srcOrd="5" destOrd="0" presId="urn:microsoft.com/office/officeart/2005/8/layout/hProcess4"/>
    <dgm:cxn modelId="{CABBAF56-35A4-4886-8FAC-D108B4D16C5C}" type="presParOf" srcId="{A54B7DF2-C726-4CDC-B9B4-08E6D528FF0A}" destId="{9A41C28B-490F-4FD5-B1C0-13D693A43662}" srcOrd="6" destOrd="0" presId="urn:microsoft.com/office/officeart/2005/8/layout/hProcess4"/>
    <dgm:cxn modelId="{B0CB0FB6-CEB4-4AE1-A5A3-FA1CD5942C72}" type="presParOf" srcId="{9A41C28B-490F-4FD5-B1C0-13D693A43662}" destId="{8EB7F94B-F1C1-40B4-840B-BCA70D042933}" srcOrd="0" destOrd="0" presId="urn:microsoft.com/office/officeart/2005/8/layout/hProcess4"/>
    <dgm:cxn modelId="{CBB5D57D-8C96-450F-924F-AC9E654D6A81}" type="presParOf" srcId="{9A41C28B-490F-4FD5-B1C0-13D693A43662}" destId="{43B2F0C3-EE86-48EE-93FC-620E700BC7E1}" srcOrd="1" destOrd="0" presId="urn:microsoft.com/office/officeart/2005/8/layout/hProcess4"/>
    <dgm:cxn modelId="{BA3704B5-8117-4420-A6CC-CE5AE83AAE0F}" type="presParOf" srcId="{9A41C28B-490F-4FD5-B1C0-13D693A43662}" destId="{AF7182ED-A42D-4D88-9EDF-5DCCC0A7FF5B}" srcOrd="2" destOrd="0" presId="urn:microsoft.com/office/officeart/2005/8/layout/hProcess4"/>
    <dgm:cxn modelId="{8CDA52EF-7B02-4186-B05C-8718BEB6F538}" type="presParOf" srcId="{9A41C28B-490F-4FD5-B1C0-13D693A43662}" destId="{D3BAC01E-AD57-454E-930B-3350160CA95B}" srcOrd="3" destOrd="0" presId="urn:microsoft.com/office/officeart/2005/8/layout/hProcess4"/>
    <dgm:cxn modelId="{DB0F40C8-CEED-482E-9AAC-2A9EEDDB7898}" type="presParOf" srcId="{9A41C28B-490F-4FD5-B1C0-13D693A43662}" destId="{6EDEC3DB-40E3-4F18-BDF7-1CA821C3D827}"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FFC6F-4D13-4488-91E3-5E4BC642E800}">
      <dsp:nvSpPr>
        <dsp:cNvPr id="0" name=""/>
        <dsp:cNvSpPr/>
      </dsp:nvSpPr>
      <dsp:spPr>
        <a:xfrm>
          <a:off x="4423" y="971740"/>
          <a:ext cx="2149772" cy="1773112"/>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n-IN" sz="2000" b="0" i="0" kern="1200" dirty="0">
              <a:latin typeface="Times New Roman" panose="02020603050405020304" pitchFamily="18" charset="0"/>
              <a:cs typeface="Times New Roman" panose="02020603050405020304" pitchFamily="18" charset="0"/>
            </a:rPr>
            <a:t>Used </a:t>
          </a:r>
          <a:r>
            <a:rPr lang="en-US" sz="2000" b="0" i="0" kern="1200" dirty="0">
              <a:latin typeface="Times New Roman" panose="02020603050405020304" pitchFamily="18" charset="0"/>
              <a:cs typeface="Times New Roman" panose="02020603050405020304" pitchFamily="18" charset="0"/>
            </a:rPr>
            <a:t>for data cleaning and transformation</a:t>
          </a:r>
          <a:r>
            <a:rPr lang="en-IN" sz="2000" b="0" i="0" kern="1200" dirty="0">
              <a:latin typeface="Times New Roman" panose="02020603050405020304" pitchFamily="18" charset="0"/>
              <a:cs typeface="Times New Roman" panose="02020603050405020304" pitchFamily="18" charset="0"/>
            </a:rPr>
            <a:t>.</a:t>
          </a:r>
          <a:endParaRPr lang="en-IN" sz="2000" kern="1200" dirty="0">
            <a:latin typeface="Times New Roman" panose="02020603050405020304" pitchFamily="18" charset="0"/>
            <a:cs typeface="Times New Roman" panose="02020603050405020304" pitchFamily="18" charset="0"/>
          </a:endParaRPr>
        </a:p>
      </dsp:txBody>
      <dsp:txXfrm>
        <a:off x="45227" y="1012544"/>
        <a:ext cx="2068164" cy="1311552"/>
      </dsp:txXfrm>
    </dsp:sp>
    <dsp:sp modelId="{266D6A4D-523C-497E-B282-19979E9D5E21}">
      <dsp:nvSpPr>
        <dsp:cNvPr id="0" name=""/>
        <dsp:cNvSpPr/>
      </dsp:nvSpPr>
      <dsp:spPr>
        <a:xfrm>
          <a:off x="1155346" y="1188625"/>
          <a:ext cx="2674258" cy="2674258"/>
        </a:xfrm>
        <a:prstGeom prst="leftCircularArrow">
          <a:avLst>
            <a:gd name="adj1" fmla="val 4281"/>
            <a:gd name="adj2" fmla="val 541298"/>
            <a:gd name="adj3" fmla="val 2316808"/>
            <a:gd name="adj4" fmla="val 9024489"/>
            <a:gd name="adj5" fmla="val 4995"/>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04CE96A-0C2F-4207-9558-FEADCBC29760}">
      <dsp:nvSpPr>
        <dsp:cNvPr id="0" name=""/>
        <dsp:cNvSpPr/>
      </dsp:nvSpPr>
      <dsp:spPr>
        <a:xfrm>
          <a:off x="482151" y="2364900"/>
          <a:ext cx="1910909" cy="75990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b="0" i="0" kern="1200">
              <a:latin typeface="Times New Roman" panose="02020603050405020304" pitchFamily="18" charset="0"/>
              <a:cs typeface="Times New Roman" panose="02020603050405020304" pitchFamily="18" charset="0"/>
            </a:rPr>
            <a:t>Power Query</a:t>
          </a:r>
          <a:endParaRPr lang="en-IN" sz="2400" kern="1200">
            <a:latin typeface="Times New Roman" panose="02020603050405020304" pitchFamily="18" charset="0"/>
            <a:cs typeface="Times New Roman" panose="02020603050405020304" pitchFamily="18" charset="0"/>
          </a:endParaRPr>
        </a:p>
      </dsp:txBody>
      <dsp:txXfrm>
        <a:off x="504408" y="2387157"/>
        <a:ext cx="1866395" cy="715391"/>
      </dsp:txXfrm>
    </dsp:sp>
    <dsp:sp modelId="{3D575545-79ED-40B6-AC0C-46941B3576ED}">
      <dsp:nvSpPr>
        <dsp:cNvPr id="0" name=""/>
        <dsp:cNvSpPr/>
      </dsp:nvSpPr>
      <dsp:spPr>
        <a:xfrm>
          <a:off x="2938243" y="971740"/>
          <a:ext cx="2149772" cy="1773112"/>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n-IN" sz="2000" b="0" i="0" kern="1200">
              <a:latin typeface="Times New Roman" panose="02020603050405020304" pitchFamily="18" charset="0"/>
              <a:cs typeface="Times New Roman" panose="02020603050405020304" pitchFamily="18" charset="0"/>
            </a:rPr>
            <a:t>Used for creating new measures and calculations.</a:t>
          </a:r>
          <a:endParaRPr lang="en-IN" sz="2000" kern="1200">
            <a:latin typeface="Times New Roman" panose="02020603050405020304" pitchFamily="18" charset="0"/>
            <a:cs typeface="Times New Roman" panose="02020603050405020304" pitchFamily="18" charset="0"/>
          </a:endParaRPr>
        </a:p>
      </dsp:txBody>
      <dsp:txXfrm>
        <a:off x="2979047" y="1392497"/>
        <a:ext cx="2068164" cy="1311552"/>
      </dsp:txXfrm>
    </dsp:sp>
    <dsp:sp modelId="{F60CFDB8-025D-4BDC-95C7-24E5C5593BFA}">
      <dsp:nvSpPr>
        <dsp:cNvPr id="0" name=""/>
        <dsp:cNvSpPr/>
      </dsp:nvSpPr>
      <dsp:spPr>
        <a:xfrm>
          <a:off x="4071250" y="-215813"/>
          <a:ext cx="2948952" cy="2948952"/>
        </a:xfrm>
        <a:prstGeom prst="circularArrow">
          <a:avLst>
            <a:gd name="adj1" fmla="val 3882"/>
            <a:gd name="adj2" fmla="val 486148"/>
            <a:gd name="adj3" fmla="val 19338341"/>
            <a:gd name="adj4" fmla="val 12575511"/>
            <a:gd name="adj5" fmla="val 4529"/>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CC1C1DB-CF8E-4871-ACE6-FB2BA9B77278}">
      <dsp:nvSpPr>
        <dsp:cNvPr id="0" name=""/>
        <dsp:cNvSpPr/>
      </dsp:nvSpPr>
      <dsp:spPr>
        <a:xfrm>
          <a:off x="3415970" y="591787"/>
          <a:ext cx="1910909" cy="75990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b="0" i="0" kern="1200">
              <a:latin typeface="Times New Roman" panose="02020603050405020304" pitchFamily="18" charset="0"/>
              <a:cs typeface="Times New Roman" panose="02020603050405020304" pitchFamily="18" charset="0"/>
            </a:rPr>
            <a:t>DAX</a:t>
          </a:r>
          <a:endParaRPr lang="en-IN" sz="2400" kern="1200">
            <a:latin typeface="Times New Roman" panose="02020603050405020304" pitchFamily="18" charset="0"/>
            <a:cs typeface="Times New Roman" panose="02020603050405020304" pitchFamily="18" charset="0"/>
          </a:endParaRPr>
        </a:p>
      </dsp:txBody>
      <dsp:txXfrm>
        <a:off x="3438227" y="614044"/>
        <a:ext cx="1866395" cy="715391"/>
      </dsp:txXfrm>
    </dsp:sp>
    <dsp:sp modelId="{3DAE6693-AA10-4AEF-AF09-A03733DA3BAE}">
      <dsp:nvSpPr>
        <dsp:cNvPr id="0" name=""/>
        <dsp:cNvSpPr/>
      </dsp:nvSpPr>
      <dsp:spPr>
        <a:xfrm>
          <a:off x="5872062" y="971740"/>
          <a:ext cx="2149772" cy="1773112"/>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n-IN" sz="2000" b="0" i="0" kern="1200" dirty="0">
              <a:latin typeface="Times New Roman" panose="02020603050405020304" pitchFamily="18" charset="0"/>
              <a:cs typeface="Times New Roman" panose="02020603050405020304" pitchFamily="18" charset="0"/>
            </a:rPr>
            <a:t>Used for creating interactive reports &amp; Dashboards.</a:t>
          </a:r>
          <a:endParaRPr lang="en-IN" sz="2000" kern="1200" dirty="0">
            <a:latin typeface="Times New Roman" panose="02020603050405020304" pitchFamily="18" charset="0"/>
            <a:cs typeface="Times New Roman" panose="02020603050405020304" pitchFamily="18" charset="0"/>
          </a:endParaRPr>
        </a:p>
      </dsp:txBody>
      <dsp:txXfrm>
        <a:off x="5912866" y="1012544"/>
        <a:ext cx="2068164" cy="1311552"/>
      </dsp:txXfrm>
    </dsp:sp>
    <dsp:sp modelId="{64B9F3D4-22B3-434A-8661-CA1F5CACBAF8}">
      <dsp:nvSpPr>
        <dsp:cNvPr id="0" name=""/>
        <dsp:cNvSpPr/>
      </dsp:nvSpPr>
      <dsp:spPr>
        <a:xfrm>
          <a:off x="7022984" y="1188625"/>
          <a:ext cx="2674258" cy="2674258"/>
        </a:xfrm>
        <a:prstGeom prst="leftCircularArrow">
          <a:avLst>
            <a:gd name="adj1" fmla="val 4281"/>
            <a:gd name="adj2" fmla="val 541298"/>
            <a:gd name="adj3" fmla="val 2316808"/>
            <a:gd name="adj4" fmla="val 9024489"/>
            <a:gd name="adj5" fmla="val 4995"/>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E112B1-262B-44EC-81D2-5202BEF96696}">
      <dsp:nvSpPr>
        <dsp:cNvPr id="0" name=""/>
        <dsp:cNvSpPr/>
      </dsp:nvSpPr>
      <dsp:spPr>
        <a:xfrm>
          <a:off x="6349789" y="2364900"/>
          <a:ext cx="1910909" cy="75990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b="0" i="0" kern="1200">
              <a:latin typeface="Times New Roman" panose="02020603050405020304" pitchFamily="18" charset="0"/>
              <a:cs typeface="Times New Roman" panose="02020603050405020304" pitchFamily="18" charset="0"/>
            </a:rPr>
            <a:t>Power View</a:t>
          </a:r>
          <a:endParaRPr lang="en-IN" sz="2400" kern="1200">
            <a:latin typeface="Times New Roman" panose="02020603050405020304" pitchFamily="18" charset="0"/>
            <a:cs typeface="Times New Roman" panose="02020603050405020304" pitchFamily="18" charset="0"/>
          </a:endParaRPr>
        </a:p>
      </dsp:txBody>
      <dsp:txXfrm>
        <a:off x="6372046" y="2387157"/>
        <a:ext cx="1866395" cy="715391"/>
      </dsp:txXfrm>
    </dsp:sp>
    <dsp:sp modelId="{43B2F0C3-EE86-48EE-93FC-620E700BC7E1}">
      <dsp:nvSpPr>
        <dsp:cNvPr id="0" name=""/>
        <dsp:cNvSpPr/>
      </dsp:nvSpPr>
      <dsp:spPr>
        <a:xfrm>
          <a:off x="8805881" y="971740"/>
          <a:ext cx="2149772" cy="1773112"/>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n-IN" sz="2000" b="0" i="0" kern="1200" dirty="0">
              <a:latin typeface="Times New Roman" panose="02020603050405020304" pitchFamily="18" charset="0"/>
              <a:cs typeface="Times New Roman" panose="02020603050405020304" pitchFamily="18" charset="0"/>
            </a:rPr>
            <a:t>Used </a:t>
          </a:r>
          <a:r>
            <a:rPr lang="en-US" sz="2000" b="0" i="0" kern="1200" dirty="0">
              <a:latin typeface="Times New Roman" panose="02020603050405020304" pitchFamily="18" charset="0"/>
              <a:cs typeface="Times New Roman" panose="02020603050405020304" pitchFamily="18" charset="0"/>
            </a:rPr>
            <a:t>for publishing, sharing, and collaboration.</a:t>
          </a:r>
          <a:endParaRPr lang="en-IN" sz="2000" kern="1200" dirty="0">
            <a:latin typeface="Times New Roman" panose="02020603050405020304" pitchFamily="18" charset="0"/>
            <a:cs typeface="Times New Roman" panose="02020603050405020304" pitchFamily="18" charset="0"/>
          </a:endParaRPr>
        </a:p>
      </dsp:txBody>
      <dsp:txXfrm>
        <a:off x="8846685" y="1392497"/>
        <a:ext cx="2068164" cy="1311552"/>
      </dsp:txXfrm>
    </dsp:sp>
    <dsp:sp modelId="{D3BAC01E-AD57-454E-930B-3350160CA95B}">
      <dsp:nvSpPr>
        <dsp:cNvPr id="0" name=""/>
        <dsp:cNvSpPr/>
      </dsp:nvSpPr>
      <dsp:spPr>
        <a:xfrm>
          <a:off x="9283609" y="591787"/>
          <a:ext cx="1910909" cy="75990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b="0" i="0" kern="1200">
              <a:latin typeface="Times New Roman" panose="02020603050405020304" pitchFamily="18" charset="0"/>
              <a:cs typeface="Times New Roman" panose="02020603050405020304" pitchFamily="18" charset="0"/>
            </a:rPr>
            <a:t>Power BI Service</a:t>
          </a:r>
          <a:endParaRPr lang="en-IN" sz="2400" kern="1200">
            <a:latin typeface="Times New Roman" panose="02020603050405020304" pitchFamily="18" charset="0"/>
            <a:cs typeface="Times New Roman" panose="02020603050405020304" pitchFamily="18" charset="0"/>
          </a:endParaRPr>
        </a:p>
      </dsp:txBody>
      <dsp:txXfrm>
        <a:off x="9305866" y="614044"/>
        <a:ext cx="1866395" cy="71539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9210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73719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1327354" y="3767147"/>
            <a:ext cx="9743769" cy="86173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en-IN" sz="1800" b="0" i="0" u="none" strike="noStrike" cap="none" dirty="0">
                <a:solidFill>
                  <a:schemeClr val="dk1"/>
                </a:solidFill>
                <a:latin typeface="Calibri"/>
                <a:ea typeface="Calibri"/>
                <a:cs typeface="Calibri"/>
                <a:sym typeface="Calibri"/>
              </a:rPr>
            </a:br>
            <a:r>
              <a:rPr lang="en-IN" sz="3200" b="1" i="0" u="none" strike="noStrike" cap="none" dirty="0">
                <a:solidFill>
                  <a:schemeClr val="dk1"/>
                </a:solidFill>
                <a:latin typeface="Calibri"/>
                <a:ea typeface="Calibri"/>
                <a:cs typeface="Calibri"/>
                <a:sym typeface="Calibri"/>
              </a:rPr>
              <a:t>Adidas Sales Performance Analysis Power BI Dashboard</a:t>
            </a:r>
            <a:endParaRPr sz="3200" b="1" dirty="0"/>
          </a:p>
        </p:txBody>
      </p:sp>
      <p:sp>
        <p:nvSpPr>
          <p:cNvPr id="2" name="TextBox 1">
            <a:extLst>
              <a:ext uri="{FF2B5EF4-FFF2-40B4-BE49-F238E27FC236}">
                <a16:creationId xmlns:a16="http://schemas.microsoft.com/office/drawing/2014/main" id="{F319E1D6-C661-0F8D-C0E2-4E519522CEF4}"/>
              </a:ext>
            </a:extLst>
          </p:cNvPr>
          <p:cNvSpPr txBox="1"/>
          <p:nvPr/>
        </p:nvSpPr>
        <p:spPr>
          <a:xfrm>
            <a:off x="8121445" y="4722911"/>
            <a:ext cx="3549445" cy="523220"/>
          </a:xfrm>
          <a:prstGeom prst="rect">
            <a:avLst/>
          </a:prstGeom>
          <a:noFill/>
        </p:spPr>
        <p:txBody>
          <a:bodyPr wrap="square" rtlCol="0">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 by P. Siva Kishore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838200" y="303390"/>
            <a:ext cx="10515600"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rgbClr val="FF0000"/>
              </a:buClr>
              <a:buSzPts val="4400"/>
              <a:buFont typeface="Calibri"/>
              <a:buNone/>
            </a:pPr>
            <a:r>
              <a:rPr lang="en-IN" sz="5400" b="1" dirty="0">
                <a:solidFill>
                  <a:srgbClr val="FF0000"/>
                </a:solidFill>
              </a:rPr>
              <a:t>Agenda</a:t>
            </a:r>
            <a:endParaRPr sz="5400" b="1" dirty="0">
              <a:solidFill>
                <a:srgbClr val="FF0000"/>
              </a:solidFill>
            </a:endParaRPr>
          </a:p>
        </p:txBody>
      </p:sp>
      <p:sp>
        <p:nvSpPr>
          <p:cNvPr id="3" name="Text Placeholder 2">
            <a:extLst>
              <a:ext uri="{FF2B5EF4-FFF2-40B4-BE49-F238E27FC236}">
                <a16:creationId xmlns:a16="http://schemas.microsoft.com/office/drawing/2014/main" id="{A71817D8-AB61-8BFB-17F0-4BB0AB5B0AF7}"/>
              </a:ext>
            </a:extLst>
          </p:cNvPr>
          <p:cNvSpPr>
            <a:spLocks noGrp="1"/>
          </p:cNvSpPr>
          <p:nvPr>
            <p:ph type="body" idx="1"/>
          </p:nvPr>
        </p:nvSpPr>
        <p:spPr/>
        <p:txBody>
          <a:bodyPr/>
          <a:lstStyle/>
          <a:p>
            <a:r>
              <a:rPr lang="en-IN" dirty="0">
                <a:latin typeface="Times New Roman" panose="02020603050405020304" pitchFamily="18" charset="0"/>
                <a:cs typeface="Times New Roman" panose="02020603050405020304" pitchFamily="18" charset="0"/>
              </a:rPr>
              <a:t>Objective</a:t>
            </a:r>
          </a:p>
          <a:p>
            <a:r>
              <a:rPr lang="en-IN" dirty="0">
                <a:latin typeface="Times New Roman" panose="02020603050405020304" pitchFamily="18" charset="0"/>
                <a:cs typeface="Times New Roman" panose="02020603050405020304" pitchFamily="18" charset="0"/>
              </a:rPr>
              <a:t>Tools Used</a:t>
            </a:r>
          </a:p>
          <a:p>
            <a:r>
              <a:rPr lang="en-IN">
                <a:latin typeface="Times New Roman" panose="02020603050405020304" pitchFamily="18" charset="0"/>
                <a:cs typeface="Times New Roman" panose="02020603050405020304" pitchFamily="18" charset="0"/>
              </a:rPr>
              <a:t>Dataset Overview</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Dashboard Overview</a:t>
            </a:r>
          </a:p>
          <a:p>
            <a:r>
              <a:rPr lang="en-IN" dirty="0">
                <a:latin typeface="Times New Roman" panose="02020603050405020304" pitchFamily="18" charset="0"/>
                <a:cs typeface="Times New Roman" panose="02020603050405020304" pitchFamily="18" charset="0"/>
              </a:rPr>
              <a:t>Visualization</a:t>
            </a:r>
          </a:p>
          <a:p>
            <a:r>
              <a:rPr lang="en-IN" dirty="0">
                <a:latin typeface="Times New Roman" panose="02020603050405020304" pitchFamily="18" charset="0"/>
                <a:cs typeface="Times New Roman" panose="02020603050405020304" pitchFamily="18" charset="0"/>
              </a:rPr>
              <a:t>Conclusion &amp; Insights</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4303B-9962-C1FD-5E75-6F999A36BA6A}"/>
              </a:ext>
            </a:extLst>
          </p:cNvPr>
          <p:cNvSpPr>
            <a:spLocks noGrp="1"/>
          </p:cNvSpPr>
          <p:nvPr>
            <p:ph type="title"/>
          </p:nvPr>
        </p:nvSpPr>
        <p:spPr>
          <a:xfrm>
            <a:off x="838200" y="365126"/>
            <a:ext cx="10515600" cy="903236"/>
          </a:xfrm>
        </p:spPr>
        <p:txBody>
          <a:bodyPr>
            <a:normAutofit/>
          </a:bodyPr>
          <a:lstStyle/>
          <a:p>
            <a:pPr algn="ctr"/>
            <a:r>
              <a:rPr lang="en-IN" sz="5400" b="1" dirty="0">
                <a:solidFill>
                  <a:srgbClr val="FF0000"/>
                </a:solidFill>
              </a:rPr>
              <a:t>objective</a:t>
            </a:r>
          </a:p>
        </p:txBody>
      </p:sp>
      <p:sp>
        <p:nvSpPr>
          <p:cNvPr id="3" name="Text Placeholder 2">
            <a:extLst>
              <a:ext uri="{FF2B5EF4-FFF2-40B4-BE49-F238E27FC236}">
                <a16:creationId xmlns:a16="http://schemas.microsoft.com/office/drawing/2014/main" id="{46683877-F1D7-A94A-C2B6-B1A16B38D015}"/>
              </a:ext>
            </a:extLst>
          </p:cNvPr>
          <p:cNvSpPr>
            <a:spLocks noGrp="1"/>
          </p:cNvSpPr>
          <p:nvPr>
            <p:ph type="body" idx="1"/>
          </p:nvPr>
        </p:nvSpPr>
        <p:spPr>
          <a:xfrm>
            <a:off x="838200" y="1481495"/>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The objective of this dashboard is to provide a </a:t>
            </a:r>
            <a:r>
              <a:rPr lang="en-US" b="1" dirty="0">
                <a:latin typeface="Times New Roman" panose="02020603050405020304" pitchFamily="18" charset="0"/>
                <a:cs typeface="Times New Roman" panose="02020603050405020304" pitchFamily="18" charset="0"/>
              </a:rPr>
              <a:t>comprehensive view of Adidas sales performance</a:t>
            </a:r>
            <a:r>
              <a:rPr lang="en-US" dirty="0">
                <a:latin typeface="Times New Roman" panose="02020603050405020304" pitchFamily="18" charset="0"/>
                <a:cs typeface="Times New Roman" panose="02020603050405020304" pitchFamily="18" charset="0"/>
              </a:rPr>
              <a:t> across different regions, retailers, products, and sales methods. It enables stakeholders to:</a:t>
            </a:r>
          </a:p>
          <a:p>
            <a:pPr marL="114300" indent="0" algn="just">
              <a:buNone/>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Track </a:t>
            </a:r>
            <a:r>
              <a:rPr lang="en-US" b="1" dirty="0">
                <a:latin typeface="Times New Roman" panose="02020603050405020304" pitchFamily="18" charset="0"/>
                <a:cs typeface="Times New Roman" panose="02020603050405020304" pitchFamily="18" charset="0"/>
              </a:rPr>
              <a:t>key performance metrics</a:t>
            </a:r>
            <a:r>
              <a:rPr lang="en-US" dirty="0">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 </a:t>
            </a:r>
            <a:r>
              <a:rPr lang="en-US" b="1" dirty="0">
                <a:latin typeface="Times New Roman" panose="02020603050405020304" pitchFamily="18" charset="0"/>
                <a:cs typeface="Times New Roman" panose="02020603050405020304" pitchFamily="18" charset="0"/>
              </a:rPr>
              <a:t>sales and profit distribution</a:t>
            </a:r>
            <a:r>
              <a:rPr lang="en-US" dirty="0">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Monitor </a:t>
            </a:r>
            <a:r>
              <a:rPr lang="en-US" b="1" dirty="0">
                <a:latin typeface="Times New Roman" panose="02020603050405020304" pitchFamily="18" charset="0"/>
                <a:cs typeface="Times New Roman" panose="02020603050405020304" pitchFamily="18" charset="0"/>
              </a:rPr>
              <a:t>daily and regional sales trends</a:t>
            </a:r>
            <a:r>
              <a:rPr lang="en-US" dirty="0">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 </a:t>
            </a:r>
            <a:r>
              <a:rPr lang="en-US" b="1" dirty="0">
                <a:latin typeface="Times New Roman" panose="02020603050405020304" pitchFamily="18" charset="0"/>
                <a:cs typeface="Times New Roman" panose="02020603050405020304" pitchFamily="18" charset="0"/>
              </a:rPr>
              <a:t>data-driven decision making</a:t>
            </a: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101246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2204-A1C3-F2CA-1E72-37D9F9462DE6}"/>
              </a:ext>
            </a:extLst>
          </p:cNvPr>
          <p:cNvSpPr>
            <a:spLocks noGrp="1"/>
          </p:cNvSpPr>
          <p:nvPr>
            <p:ph type="title"/>
          </p:nvPr>
        </p:nvSpPr>
        <p:spPr/>
        <p:txBody>
          <a:bodyPr>
            <a:normAutofit/>
          </a:bodyPr>
          <a:lstStyle/>
          <a:p>
            <a:pPr algn="ctr"/>
            <a:r>
              <a:rPr lang="en-IN" sz="5400" b="1" dirty="0">
                <a:solidFill>
                  <a:srgbClr val="FF0000"/>
                </a:solidFill>
              </a:rPr>
              <a:t>Tools Used</a:t>
            </a:r>
          </a:p>
        </p:txBody>
      </p:sp>
      <p:graphicFrame>
        <p:nvGraphicFramePr>
          <p:cNvPr id="4" name="Diagram 3">
            <a:extLst>
              <a:ext uri="{FF2B5EF4-FFF2-40B4-BE49-F238E27FC236}">
                <a16:creationId xmlns:a16="http://schemas.microsoft.com/office/drawing/2014/main" id="{9846B98C-A8E5-4627-7241-6468E14F7249}"/>
              </a:ext>
            </a:extLst>
          </p:cNvPr>
          <p:cNvGraphicFramePr/>
          <p:nvPr>
            <p:extLst>
              <p:ext uri="{D42A27DB-BD31-4B8C-83A1-F6EECF244321}">
                <p14:modId xmlns:p14="http://schemas.microsoft.com/office/powerpoint/2010/main" val="847103140"/>
              </p:ext>
            </p:extLst>
          </p:nvPr>
        </p:nvGraphicFramePr>
        <p:xfrm>
          <a:off x="481781" y="1907458"/>
          <a:ext cx="11198942" cy="37165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0447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5042-E04B-4485-7384-10992F3FDC03}"/>
              </a:ext>
            </a:extLst>
          </p:cNvPr>
          <p:cNvSpPr>
            <a:spLocks noGrp="1"/>
          </p:cNvSpPr>
          <p:nvPr>
            <p:ph type="title"/>
          </p:nvPr>
        </p:nvSpPr>
        <p:spPr>
          <a:xfrm>
            <a:off x="838200" y="44587"/>
            <a:ext cx="10515600" cy="732161"/>
          </a:xfrm>
        </p:spPr>
        <p:txBody>
          <a:bodyPr>
            <a:normAutofit fontScale="90000"/>
          </a:bodyPr>
          <a:lstStyle/>
          <a:p>
            <a:pPr algn="ctr"/>
            <a:r>
              <a:rPr lang="en-IN" sz="5400" b="1" dirty="0">
                <a:solidFill>
                  <a:srgbClr val="FF0000"/>
                </a:solidFill>
              </a:rPr>
              <a:t>Dataset Overview</a:t>
            </a:r>
          </a:p>
        </p:txBody>
      </p:sp>
      <p:sp>
        <p:nvSpPr>
          <p:cNvPr id="3" name="Text Placeholder 2">
            <a:extLst>
              <a:ext uri="{FF2B5EF4-FFF2-40B4-BE49-F238E27FC236}">
                <a16:creationId xmlns:a16="http://schemas.microsoft.com/office/drawing/2014/main" id="{252A80EB-08E2-9083-AF07-5C3BE5D40499}"/>
              </a:ext>
            </a:extLst>
          </p:cNvPr>
          <p:cNvSpPr>
            <a:spLocks noGrp="1"/>
          </p:cNvSpPr>
          <p:nvPr>
            <p:ph type="body" idx="1"/>
          </p:nvPr>
        </p:nvSpPr>
        <p:spPr>
          <a:xfrm>
            <a:off x="169606" y="1644428"/>
            <a:ext cx="5090652" cy="4351338"/>
          </a:xfrm>
        </p:spPr>
        <p:txBody>
          <a:bodyPr>
            <a:normAutofit fontScale="92500" lnSpcReduction="20000"/>
          </a:bodyPr>
          <a:lstStyle/>
          <a:p>
            <a:pPr lvl="1" algn="just">
              <a:lnSpc>
                <a:spcPct val="150000"/>
              </a:lnSpc>
              <a:buFont typeface="Wingdings" panose="05000000000000000000" pitchFamily="2" charset="2"/>
              <a:buChar char="Ø"/>
            </a:pPr>
            <a:r>
              <a:rPr lang="en-IN" b="1" dirty="0">
                <a:solidFill>
                  <a:schemeClr val="accent2"/>
                </a:solidFill>
                <a:latin typeface="Times New Roman" panose="02020603050405020304" pitchFamily="18" charset="0"/>
                <a:cs typeface="Times New Roman" panose="02020603050405020304" pitchFamily="18" charset="0"/>
              </a:rPr>
              <a:t>Source: </a:t>
            </a: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Adidas US Sales dataset</a:t>
            </a:r>
            <a:r>
              <a:rPr lang="en-US" dirty="0">
                <a:latin typeface="Times New Roman" panose="02020603050405020304" pitchFamily="18" charset="0"/>
                <a:cs typeface="Times New Roman" panose="02020603050405020304" pitchFamily="18" charset="0"/>
              </a:rPr>
              <a:t> from Project 2 – Adidas Case Study.</a:t>
            </a:r>
          </a:p>
          <a:p>
            <a:pPr lvl="1" algn="just">
              <a:lnSpc>
                <a:spcPct val="150000"/>
              </a:lnSpc>
              <a:buFont typeface="Wingdings" panose="05000000000000000000" pitchFamily="2" charset="2"/>
              <a:buChar char="Ø"/>
            </a:pPr>
            <a:r>
              <a:rPr lang="en-US" b="1" dirty="0">
                <a:solidFill>
                  <a:schemeClr val="accent2"/>
                </a:solidFill>
                <a:latin typeface="Times New Roman" panose="02020603050405020304" pitchFamily="18" charset="0"/>
                <a:cs typeface="Times New Roman" panose="02020603050405020304" pitchFamily="18" charset="0"/>
              </a:rPr>
              <a:t>Shape: </a:t>
            </a:r>
            <a:r>
              <a:rPr lang="en-US" dirty="0">
                <a:latin typeface="Times New Roman" panose="02020603050405020304" pitchFamily="18" charset="0"/>
                <a:cs typeface="Times New Roman" panose="02020603050405020304" pitchFamily="18" charset="0"/>
              </a:rPr>
              <a:t>9648 rows x 13 columns.</a:t>
            </a:r>
          </a:p>
          <a:p>
            <a:pPr lvl="1">
              <a:lnSpc>
                <a:spcPct val="150000"/>
              </a:lnSpc>
              <a:buFont typeface="Wingdings" panose="05000000000000000000" pitchFamily="2" charset="2"/>
              <a:buChar char="Ø"/>
            </a:pPr>
            <a:r>
              <a:rPr lang="en-IN" b="1" dirty="0">
                <a:solidFill>
                  <a:schemeClr val="accent2"/>
                </a:solidFill>
                <a:latin typeface="Times New Roman" panose="02020603050405020304" pitchFamily="18" charset="0"/>
                <a:cs typeface="Times New Roman" panose="02020603050405020304" pitchFamily="18" charset="0"/>
              </a:rPr>
              <a:t>Key Columns: </a:t>
            </a:r>
            <a:r>
              <a:rPr lang="en-IN" dirty="0">
                <a:latin typeface="Times New Roman" panose="02020603050405020304" pitchFamily="18" charset="0"/>
                <a:cs typeface="Times New Roman" panose="02020603050405020304" pitchFamily="18" charset="0"/>
              </a:rPr>
              <a:t>Retailer, Retailer-</a:t>
            </a:r>
          </a:p>
          <a:p>
            <a:pPr marL="571500" lvl="1" indent="0">
              <a:lnSpc>
                <a:spcPct val="150000"/>
              </a:lnSpc>
              <a:buNone/>
            </a:pPr>
            <a:r>
              <a:rPr lang="en-IN" dirty="0">
                <a:latin typeface="Times New Roman" panose="02020603050405020304" pitchFamily="18" charset="0"/>
                <a:cs typeface="Times New Roman" panose="02020603050405020304" pitchFamily="18" charset="0"/>
              </a:rPr>
              <a:t>ID, Invoice Date, Region, State, City,</a:t>
            </a:r>
          </a:p>
          <a:p>
            <a:pPr marL="571500" lvl="1" indent="0">
              <a:lnSpc>
                <a:spcPct val="150000"/>
              </a:lnSpc>
              <a:buNone/>
            </a:pPr>
            <a:r>
              <a:rPr lang="en-IN" dirty="0">
                <a:latin typeface="Times New Roman" panose="02020603050405020304" pitchFamily="18" charset="0"/>
                <a:cs typeface="Times New Roman" panose="02020603050405020304" pitchFamily="18" charset="0"/>
              </a:rPr>
              <a:t>Product, Price Per Unit, Units Sold, Total Sales, Operating Profit, Operating Margin, Sales Method.</a:t>
            </a:r>
          </a:p>
        </p:txBody>
      </p:sp>
      <p:pic>
        <p:nvPicPr>
          <p:cNvPr id="4" name="Picture 3">
            <a:extLst>
              <a:ext uri="{FF2B5EF4-FFF2-40B4-BE49-F238E27FC236}">
                <a16:creationId xmlns:a16="http://schemas.microsoft.com/office/drawing/2014/main" id="{16D4E0A1-8166-58BF-990F-D3AD82A68FBB}"/>
              </a:ext>
            </a:extLst>
          </p:cNvPr>
          <p:cNvPicPr>
            <a:picLocks noChangeAspect="1"/>
          </p:cNvPicPr>
          <p:nvPr/>
        </p:nvPicPr>
        <p:blipFill>
          <a:blip r:embed="rId3"/>
          <a:stretch>
            <a:fillRect/>
          </a:stretch>
        </p:blipFill>
        <p:spPr>
          <a:xfrm>
            <a:off x="5260258" y="1225764"/>
            <a:ext cx="6646607" cy="47700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21557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07A3F-C568-702B-A758-63C8C932B138}"/>
              </a:ext>
            </a:extLst>
          </p:cNvPr>
          <p:cNvSpPr>
            <a:spLocks noGrp="1"/>
          </p:cNvSpPr>
          <p:nvPr>
            <p:ph type="title"/>
          </p:nvPr>
        </p:nvSpPr>
        <p:spPr>
          <a:xfrm>
            <a:off x="730045" y="151427"/>
            <a:ext cx="10515600" cy="529610"/>
          </a:xfrm>
        </p:spPr>
        <p:txBody>
          <a:bodyPr>
            <a:normAutofit fontScale="90000"/>
          </a:bodyPr>
          <a:lstStyle/>
          <a:p>
            <a:pPr algn="ctr"/>
            <a:r>
              <a:rPr lang="en-IN" sz="5400" b="1" dirty="0">
                <a:solidFill>
                  <a:srgbClr val="FF0000"/>
                </a:solidFill>
              </a:rPr>
              <a:t>Dashboard Overview</a:t>
            </a:r>
          </a:p>
        </p:txBody>
      </p:sp>
      <p:sp>
        <p:nvSpPr>
          <p:cNvPr id="3" name="Text Placeholder 2">
            <a:extLst>
              <a:ext uri="{FF2B5EF4-FFF2-40B4-BE49-F238E27FC236}">
                <a16:creationId xmlns:a16="http://schemas.microsoft.com/office/drawing/2014/main" id="{E0BCC1C9-4C05-1809-CCD9-90E742356AC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897610E4-2072-73E4-39CE-BA954EF2E533}"/>
              </a:ext>
            </a:extLst>
          </p:cNvPr>
          <p:cNvPicPr>
            <a:picLocks noChangeAspect="1"/>
          </p:cNvPicPr>
          <p:nvPr/>
        </p:nvPicPr>
        <p:blipFill>
          <a:blip r:embed="rId2"/>
          <a:stretch>
            <a:fillRect/>
          </a:stretch>
        </p:blipFill>
        <p:spPr>
          <a:xfrm>
            <a:off x="-1" y="661372"/>
            <a:ext cx="12192001" cy="6250706"/>
          </a:xfrm>
          <a:prstGeom prst="rect">
            <a:avLst/>
          </a:prstGeom>
        </p:spPr>
      </p:pic>
    </p:spTree>
    <p:extLst>
      <p:ext uri="{BB962C8B-B14F-4D97-AF65-F5344CB8AC3E}">
        <p14:creationId xmlns:p14="http://schemas.microsoft.com/office/powerpoint/2010/main" val="2609550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0519BF-D270-7401-5091-96A5A12B6BC1}"/>
              </a:ext>
            </a:extLst>
          </p:cNvPr>
          <p:cNvPicPr>
            <a:picLocks noChangeAspect="1"/>
          </p:cNvPicPr>
          <p:nvPr/>
        </p:nvPicPr>
        <p:blipFill>
          <a:blip r:embed="rId2"/>
          <a:stretch>
            <a:fillRect/>
          </a:stretch>
        </p:blipFill>
        <p:spPr>
          <a:xfrm>
            <a:off x="0" y="0"/>
            <a:ext cx="12192000" cy="6791075"/>
          </a:xfrm>
          <a:prstGeom prst="rect">
            <a:avLst/>
          </a:prstGeom>
        </p:spPr>
      </p:pic>
    </p:spTree>
    <p:extLst>
      <p:ext uri="{BB962C8B-B14F-4D97-AF65-F5344CB8AC3E}">
        <p14:creationId xmlns:p14="http://schemas.microsoft.com/office/powerpoint/2010/main" val="2431197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54EB2-EFAE-0397-C56C-9EB4C41CC116}"/>
              </a:ext>
            </a:extLst>
          </p:cNvPr>
          <p:cNvSpPr>
            <a:spLocks noGrp="1"/>
          </p:cNvSpPr>
          <p:nvPr>
            <p:ph type="title"/>
          </p:nvPr>
        </p:nvSpPr>
        <p:spPr/>
        <p:txBody>
          <a:bodyPr/>
          <a:lstStyle/>
          <a:p>
            <a:pPr algn="ctr"/>
            <a:r>
              <a:rPr lang="en-IN" sz="5400" b="1" dirty="0">
                <a:solidFill>
                  <a:srgbClr val="FF0000"/>
                </a:solidFill>
              </a:rPr>
              <a:t>Key Performance Indicators </a:t>
            </a:r>
          </a:p>
        </p:txBody>
      </p:sp>
      <p:sp>
        <p:nvSpPr>
          <p:cNvPr id="3" name="Text Placeholder 2">
            <a:extLst>
              <a:ext uri="{FF2B5EF4-FFF2-40B4-BE49-F238E27FC236}">
                <a16:creationId xmlns:a16="http://schemas.microsoft.com/office/drawing/2014/main" id="{17FB42CA-785B-0E73-D8FC-97ACEF82C711}"/>
              </a:ext>
            </a:extLst>
          </p:cNvPr>
          <p:cNvSpPr>
            <a:spLocks noGrp="1"/>
          </p:cNvSpPr>
          <p:nvPr>
            <p:ph type="body" idx="1"/>
          </p:nvPr>
        </p:nvSpPr>
        <p:spPr>
          <a:xfrm>
            <a:off x="28200" y="1690688"/>
            <a:ext cx="8423787" cy="4351338"/>
          </a:xfrm>
        </p:spPr>
        <p:txBody>
          <a:bodyPr/>
          <a:lstStyle/>
          <a:p>
            <a:pPr marL="628650" indent="-514350">
              <a:buAutoNum type="arabicPeriod"/>
            </a:pPr>
            <a:r>
              <a:rPr lang="en-IN" sz="2000" dirty="0">
                <a:latin typeface="Times New Roman" panose="02020603050405020304" pitchFamily="18" charset="0"/>
                <a:cs typeface="Times New Roman" panose="02020603050405020304" pitchFamily="18" charset="0"/>
              </a:rPr>
              <a:t>Total Sales: Understanding the overall sales.</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Total_Sales = SUM('Data Sales Adidas'[Total Sales])</a:t>
            </a:r>
          </a:p>
          <a:p>
            <a:pPr marL="628650" indent="-514350">
              <a:buFont typeface="Arial"/>
              <a:buAutoNum type="arabicPeriod"/>
            </a:pPr>
            <a:r>
              <a:rPr lang="en-US" sz="2000" dirty="0">
                <a:latin typeface="Times New Roman" panose="02020603050405020304" pitchFamily="18" charset="0"/>
                <a:cs typeface="Times New Roman" panose="02020603050405020304" pitchFamily="18" charset="0"/>
              </a:rPr>
              <a:t>Total Profit: Evaluating total profit generated by Adidas. </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Total Profit = SUM('Data Sales Adidas'[Operating Profit])</a:t>
            </a:r>
          </a:p>
          <a:p>
            <a:pPr marL="628650" indent="-514350">
              <a:buFont typeface="Arial"/>
              <a:buAutoNum type="arabicPeriod"/>
            </a:pPr>
            <a:r>
              <a:rPr lang="en-US" sz="2000" dirty="0">
                <a:latin typeface="Times New Roman" panose="02020603050405020304" pitchFamily="18" charset="0"/>
                <a:cs typeface="Times New Roman" panose="02020603050405020304" pitchFamily="18" charset="0"/>
              </a:rPr>
              <a:t>Total Units Sold: finding the total units sold by Adidas. </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Total Units Sold = SUM('Data Sales Adidas'[Units Sold])</a:t>
            </a:r>
          </a:p>
          <a:p>
            <a:pPr marL="628650" indent="-514350">
              <a:buFont typeface="Arial"/>
              <a:buAutoNum type="arabicPeriod"/>
            </a:pPr>
            <a:r>
              <a:rPr lang="en-US" sz="2000" dirty="0">
                <a:latin typeface="Times New Roman" panose="02020603050405020304" pitchFamily="18" charset="0"/>
                <a:cs typeface="Times New Roman" panose="02020603050405020304" pitchFamily="18" charset="0"/>
              </a:rPr>
              <a:t>Average Price Per Unit: </a:t>
            </a:r>
            <a:r>
              <a:rPr lang="en-IN" sz="2000" dirty="0">
                <a:latin typeface="Times New Roman" panose="02020603050405020304" pitchFamily="18" charset="0"/>
                <a:cs typeface="Times New Roman" panose="02020603050405020304" pitchFamily="18" charset="0"/>
              </a:rPr>
              <a:t>Determine the average price of a overall product.</a:t>
            </a:r>
            <a:r>
              <a:rPr lang="en-US"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Average Price per Unit = DIVIDE('Data Sales Adidas'[Total_Sales], [Total Units Sold], 0)</a:t>
            </a:r>
          </a:p>
          <a:p>
            <a:pPr marL="114300" indent="0">
              <a:buNone/>
            </a:pPr>
            <a:endParaRPr lang="en-US" dirty="0"/>
          </a:p>
          <a:p>
            <a:pPr marL="571500" lvl="1" indent="0">
              <a:buNone/>
            </a:pPr>
            <a:endParaRPr lang="en-US" dirty="0"/>
          </a:p>
        </p:txBody>
      </p:sp>
      <p:pic>
        <p:nvPicPr>
          <p:cNvPr id="6" name="Picture 5">
            <a:extLst>
              <a:ext uri="{FF2B5EF4-FFF2-40B4-BE49-F238E27FC236}">
                <a16:creationId xmlns:a16="http://schemas.microsoft.com/office/drawing/2014/main" id="{D4EF4652-EBFB-3752-357F-42D051C78161}"/>
              </a:ext>
            </a:extLst>
          </p:cNvPr>
          <p:cNvPicPr>
            <a:picLocks noChangeAspect="1"/>
          </p:cNvPicPr>
          <p:nvPr/>
        </p:nvPicPr>
        <p:blipFill>
          <a:blip r:embed="rId3"/>
          <a:stretch>
            <a:fillRect/>
          </a:stretch>
        </p:blipFill>
        <p:spPr>
          <a:xfrm>
            <a:off x="7646373" y="1546412"/>
            <a:ext cx="3874709" cy="23176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93050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EC8EE-50FE-536E-AE5B-CB94641CCE04}"/>
              </a:ext>
            </a:extLst>
          </p:cNvPr>
          <p:cNvSpPr>
            <a:spLocks noGrp="1"/>
          </p:cNvSpPr>
          <p:nvPr>
            <p:ph type="title"/>
          </p:nvPr>
        </p:nvSpPr>
        <p:spPr>
          <a:xfrm>
            <a:off x="838200" y="227474"/>
            <a:ext cx="10515600" cy="588604"/>
          </a:xfrm>
        </p:spPr>
        <p:txBody>
          <a:bodyPr>
            <a:noAutofit/>
          </a:bodyPr>
          <a:lstStyle/>
          <a:p>
            <a:pPr algn="ctr"/>
            <a:r>
              <a:rPr lang="en-IN" sz="5400" b="1" dirty="0">
                <a:solidFill>
                  <a:srgbClr val="FF0000"/>
                </a:solidFill>
              </a:rPr>
              <a:t>Sales Performance by Month</a:t>
            </a:r>
          </a:p>
        </p:txBody>
      </p:sp>
      <p:pic>
        <p:nvPicPr>
          <p:cNvPr id="5" name="Picture 4">
            <a:extLst>
              <a:ext uri="{FF2B5EF4-FFF2-40B4-BE49-F238E27FC236}">
                <a16:creationId xmlns:a16="http://schemas.microsoft.com/office/drawing/2014/main" id="{83B68289-4795-92E5-5F80-BAF48573EE12}"/>
              </a:ext>
            </a:extLst>
          </p:cNvPr>
          <p:cNvPicPr>
            <a:picLocks noChangeAspect="1"/>
          </p:cNvPicPr>
          <p:nvPr/>
        </p:nvPicPr>
        <p:blipFill>
          <a:blip r:embed="rId2"/>
          <a:stretch>
            <a:fillRect/>
          </a:stretch>
        </p:blipFill>
        <p:spPr>
          <a:xfrm>
            <a:off x="523567" y="1287566"/>
            <a:ext cx="6368845" cy="44927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C334839B-5C53-31C3-E1C4-F188EB59FA4C}"/>
              </a:ext>
            </a:extLst>
          </p:cNvPr>
          <p:cNvSpPr txBox="1"/>
          <p:nvPr/>
        </p:nvSpPr>
        <p:spPr>
          <a:xfrm>
            <a:off x="7079226" y="1287566"/>
            <a:ext cx="4729316" cy="440120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sales performance throughout the year demonstrates clear seasonal trends. Starting at 71M in January, sales gradually decline, reaching the lowest point of 57M in March. From April onwards, a strong upward momentum is observed, culminating in the annual peak of 95M in July. Although a slight dip follows in August at 92M, sales experience a sharper decline in the subsequent months, bottoming out at 64M in October. However, the final quarter shows a positive rebound, with sales recovering steadily and closing the year at 86M in December.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1790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2C735-9348-D4E3-7AED-06A6C229FEA1}"/>
              </a:ext>
            </a:extLst>
          </p:cNvPr>
          <p:cNvSpPr>
            <a:spLocks noGrp="1"/>
          </p:cNvSpPr>
          <p:nvPr>
            <p:ph type="title"/>
          </p:nvPr>
        </p:nvSpPr>
        <p:spPr>
          <a:xfrm>
            <a:off x="838200" y="256971"/>
            <a:ext cx="10515600" cy="509946"/>
          </a:xfrm>
        </p:spPr>
        <p:txBody>
          <a:bodyPr>
            <a:normAutofit fontScale="90000"/>
          </a:bodyPr>
          <a:lstStyle/>
          <a:p>
            <a:pPr algn="ctr"/>
            <a:r>
              <a:rPr lang="en-IN" sz="5400" b="1" dirty="0">
                <a:solidFill>
                  <a:srgbClr val="FF0000"/>
                </a:solidFill>
              </a:rPr>
              <a:t>Sales Method Comparison</a:t>
            </a:r>
          </a:p>
        </p:txBody>
      </p:sp>
      <p:sp>
        <p:nvSpPr>
          <p:cNvPr id="3" name="Text Placeholder 2">
            <a:extLst>
              <a:ext uri="{FF2B5EF4-FFF2-40B4-BE49-F238E27FC236}">
                <a16:creationId xmlns:a16="http://schemas.microsoft.com/office/drawing/2014/main" id="{6041A3DF-5F38-B3B5-0B22-B1934FE8EE7A}"/>
              </a:ext>
            </a:extLst>
          </p:cNvPr>
          <p:cNvSpPr>
            <a:spLocks noGrp="1"/>
          </p:cNvSpPr>
          <p:nvPr>
            <p:ph type="body" idx="1"/>
          </p:nvPr>
        </p:nvSpPr>
        <p:spPr>
          <a:xfrm>
            <a:off x="621891" y="1376517"/>
            <a:ext cx="5257800" cy="4351338"/>
          </a:xfrm>
        </p:spPr>
        <p:txBody>
          <a:bodyPr>
            <a:normAutofit/>
          </a:bodyPr>
          <a:lstStyle/>
          <a:p>
            <a:pPr marL="114300" indent="0" algn="just">
              <a:lnSpc>
                <a:spcPct val="120000"/>
              </a:lnSpc>
              <a:spcBef>
                <a:spcPts val="0"/>
              </a:spcBef>
              <a:buClr>
                <a:srgbClr val="000000"/>
              </a:buClr>
              <a:buNone/>
            </a:pPr>
            <a:r>
              <a:rPr lang="en-US" sz="2000" dirty="0">
                <a:solidFill>
                  <a:srgbClr val="000000"/>
                </a:solidFill>
                <a:latin typeface="Times New Roman" panose="02020603050405020304" pitchFamily="18" charset="0"/>
                <a:cs typeface="Times New Roman" panose="02020603050405020304" pitchFamily="18" charset="0"/>
                <a:sym typeface="Arial"/>
              </a:rPr>
              <a:t>Sales performance across different channels highlights that In-store purchases dominate with 357M in total sales, followed by Outlet sales at 296M. Online sales, while lower at 248M, still represent a considerable portion of overall revenue. The data indicates that traditional in-store channels remain the primary driver of sales, though both outlet and online channels contribute substantially to overall business performance.</a:t>
            </a:r>
            <a:endParaRPr lang="en-IN" sz="2000" dirty="0">
              <a:solidFill>
                <a:srgbClr val="000000"/>
              </a:solidFill>
              <a:latin typeface="Times New Roman" panose="02020603050405020304" pitchFamily="18" charset="0"/>
              <a:cs typeface="Times New Roman" panose="02020603050405020304" pitchFamily="18" charset="0"/>
              <a:sym typeface="Arial"/>
            </a:endParaRPr>
          </a:p>
        </p:txBody>
      </p:sp>
      <p:pic>
        <p:nvPicPr>
          <p:cNvPr id="5" name="Picture 4">
            <a:extLst>
              <a:ext uri="{FF2B5EF4-FFF2-40B4-BE49-F238E27FC236}">
                <a16:creationId xmlns:a16="http://schemas.microsoft.com/office/drawing/2014/main" id="{D2B62722-FA3B-5223-24B4-EB4A09748B5A}"/>
              </a:ext>
            </a:extLst>
          </p:cNvPr>
          <p:cNvPicPr>
            <a:picLocks noChangeAspect="1"/>
          </p:cNvPicPr>
          <p:nvPr/>
        </p:nvPicPr>
        <p:blipFill>
          <a:blip r:embed="rId2"/>
          <a:stretch>
            <a:fillRect/>
          </a:stretch>
        </p:blipFill>
        <p:spPr>
          <a:xfrm>
            <a:off x="6096000" y="1376517"/>
            <a:ext cx="5742039" cy="43513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10899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26AE-5E6A-C45C-9338-FB98E43A770C}"/>
              </a:ext>
            </a:extLst>
          </p:cNvPr>
          <p:cNvSpPr>
            <a:spLocks noGrp="1"/>
          </p:cNvSpPr>
          <p:nvPr>
            <p:ph type="title"/>
          </p:nvPr>
        </p:nvSpPr>
        <p:spPr>
          <a:xfrm>
            <a:off x="238433" y="355294"/>
            <a:ext cx="5857567" cy="677094"/>
          </a:xfrm>
        </p:spPr>
        <p:txBody>
          <a:bodyPr>
            <a:normAutofit fontScale="90000"/>
          </a:bodyPr>
          <a:lstStyle/>
          <a:p>
            <a:r>
              <a:rPr lang="en-US" sz="2400" b="1" dirty="0">
                <a:solidFill>
                  <a:srgbClr val="FF0000"/>
                </a:solidFill>
              </a:rPr>
              <a:t>Operating Profit Analysis by Retailer and Region</a:t>
            </a:r>
            <a:endParaRPr lang="en-IN" sz="2400" b="1" dirty="0">
              <a:solidFill>
                <a:srgbClr val="FF0000"/>
              </a:solidFill>
            </a:endParaRPr>
          </a:p>
        </p:txBody>
      </p:sp>
      <p:sp>
        <p:nvSpPr>
          <p:cNvPr id="3" name="Text Placeholder 2">
            <a:extLst>
              <a:ext uri="{FF2B5EF4-FFF2-40B4-BE49-F238E27FC236}">
                <a16:creationId xmlns:a16="http://schemas.microsoft.com/office/drawing/2014/main" id="{D80DA486-3188-BD65-D63C-4E269A98C604}"/>
              </a:ext>
            </a:extLst>
          </p:cNvPr>
          <p:cNvSpPr>
            <a:spLocks noGrp="1"/>
          </p:cNvSpPr>
          <p:nvPr>
            <p:ph type="body" idx="1"/>
          </p:nvPr>
        </p:nvSpPr>
        <p:spPr>
          <a:xfrm>
            <a:off x="385916" y="4393686"/>
            <a:ext cx="5090652" cy="2305665"/>
          </a:xfrm>
        </p:spPr>
        <p:txBody>
          <a:bodyPr>
            <a:normAutofit/>
          </a:bodyPr>
          <a:lstStyle/>
          <a:p>
            <a:pPr marL="114300" indent="0" algn="just">
              <a:buNone/>
            </a:pPr>
            <a:r>
              <a:rPr lang="en-US" sz="2000" dirty="0">
                <a:latin typeface="Times New Roman" panose="02020603050405020304" pitchFamily="18" charset="0"/>
                <a:cs typeface="Times New Roman" panose="02020603050405020304" pitchFamily="18" charset="0"/>
              </a:rPr>
              <a:t>The visualization shows operating profit distribution across retailers by region, with West Gear (86M), Foot Locker (81M), and Sports Direct (75M) leading, driven mainly by the West and South regions. Kohl’s, Amazon, and Walmart contribute moderately, highlighting strong regional profit variations.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F5370A6-763B-B5F8-D837-4F2D7117E5BE}"/>
              </a:ext>
            </a:extLst>
          </p:cNvPr>
          <p:cNvPicPr>
            <a:picLocks noChangeAspect="1"/>
          </p:cNvPicPr>
          <p:nvPr/>
        </p:nvPicPr>
        <p:blipFill>
          <a:blip r:embed="rId2"/>
          <a:stretch>
            <a:fillRect/>
          </a:stretch>
        </p:blipFill>
        <p:spPr>
          <a:xfrm>
            <a:off x="647348" y="1174104"/>
            <a:ext cx="4567788" cy="30778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EC8C1856-DF88-D587-68E5-70CE1EB42852}"/>
              </a:ext>
            </a:extLst>
          </p:cNvPr>
          <p:cNvSpPr txBox="1"/>
          <p:nvPr/>
        </p:nvSpPr>
        <p:spPr>
          <a:xfrm>
            <a:off x="6194323" y="4546796"/>
            <a:ext cx="5397909"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Men’s Street Footwear dominates with ~0.6M units sold, led by Foot Locker and West Gear. Apparel categories show the lowest sales (~0.31M), while other footwear maintains steady demand across retailers.</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63667EC-F7A7-3353-B17A-E5010108DD5A}"/>
              </a:ext>
            </a:extLst>
          </p:cNvPr>
          <p:cNvPicPr>
            <a:picLocks noChangeAspect="1"/>
          </p:cNvPicPr>
          <p:nvPr/>
        </p:nvPicPr>
        <p:blipFill>
          <a:blip r:embed="rId3"/>
          <a:stretch>
            <a:fillRect/>
          </a:stretch>
        </p:blipFill>
        <p:spPr>
          <a:xfrm>
            <a:off x="6381136" y="1174104"/>
            <a:ext cx="4634671" cy="30778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Box 9">
            <a:extLst>
              <a:ext uri="{FF2B5EF4-FFF2-40B4-BE49-F238E27FC236}">
                <a16:creationId xmlns:a16="http://schemas.microsoft.com/office/drawing/2014/main" id="{B782C2ED-D740-A8DC-F118-661C7D2EC676}"/>
              </a:ext>
            </a:extLst>
          </p:cNvPr>
          <p:cNvSpPr txBox="1"/>
          <p:nvPr/>
        </p:nvSpPr>
        <p:spPr>
          <a:xfrm>
            <a:off x="6194324" y="448391"/>
            <a:ext cx="5397908" cy="430887"/>
          </a:xfrm>
          <a:prstGeom prst="rect">
            <a:avLst/>
          </a:prstGeom>
          <a:noFill/>
        </p:spPr>
        <p:txBody>
          <a:bodyPr wrap="square" rtlCol="0">
            <a:spAutoFit/>
          </a:bodyPr>
          <a:lstStyle/>
          <a:p>
            <a:r>
              <a:rPr lang="en-US" sz="2200" b="1" dirty="0">
                <a:solidFill>
                  <a:srgbClr val="FF0000"/>
                </a:solidFill>
                <a:latin typeface="Calibri" panose="020F0502020204030204" pitchFamily="34" charset="0"/>
                <a:ea typeface="Calibri" panose="020F0502020204030204" pitchFamily="34" charset="0"/>
                <a:cs typeface="Calibri" panose="020F0502020204030204" pitchFamily="34" charset="0"/>
              </a:rPr>
              <a:t>Units Sold by Product Category and Retailer</a:t>
            </a:r>
            <a:endParaRPr lang="en-IN" sz="22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0559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2726-7774-5C33-2EC3-A9137809B6B7}"/>
              </a:ext>
            </a:extLst>
          </p:cNvPr>
          <p:cNvSpPr>
            <a:spLocks noGrp="1"/>
          </p:cNvSpPr>
          <p:nvPr>
            <p:ph type="title"/>
          </p:nvPr>
        </p:nvSpPr>
        <p:spPr>
          <a:xfrm>
            <a:off x="668594" y="178312"/>
            <a:ext cx="10685206" cy="618101"/>
          </a:xfrm>
        </p:spPr>
        <p:txBody>
          <a:bodyPr>
            <a:normAutofit fontScale="90000"/>
          </a:bodyPr>
          <a:lstStyle/>
          <a:p>
            <a:pPr algn="ctr"/>
            <a:r>
              <a:rPr lang="en-IN" sz="5400" b="1" dirty="0">
                <a:solidFill>
                  <a:srgbClr val="FF0000"/>
                </a:solidFill>
              </a:rPr>
              <a:t>Sales by Region &amp; Sales by Product</a:t>
            </a:r>
          </a:p>
        </p:txBody>
      </p:sp>
      <p:pic>
        <p:nvPicPr>
          <p:cNvPr id="5" name="Picture 4">
            <a:extLst>
              <a:ext uri="{FF2B5EF4-FFF2-40B4-BE49-F238E27FC236}">
                <a16:creationId xmlns:a16="http://schemas.microsoft.com/office/drawing/2014/main" id="{819F5E7E-5CD5-421A-14B8-9B9F821FEE67}"/>
              </a:ext>
            </a:extLst>
          </p:cNvPr>
          <p:cNvPicPr>
            <a:picLocks noChangeAspect="1"/>
          </p:cNvPicPr>
          <p:nvPr/>
        </p:nvPicPr>
        <p:blipFill>
          <a:blip r:embed="rId2"/>
          <a:stretch>
            <a:fillRect/>
          </a:stretch>
        </p:blipFill>
        <p:spPr>
          <a:xfrm>
            <a:off x="435078" y="883256"/>
            <a:ext cx="5100484" cy="36756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64D7E5B7-AF78-37A1-3978-25604F6BDE6B}"/>
              </a:ext>
            </a:extLst>
          </p:cNvPr>
          <p:cNvPicPr>
            <a:picLocks noChangeAspect="1"/>
          </p:cNvPicPr>
          <p:nvPr/>
        </p:nvPicPr>
        <p:blipFill>
          <a:blip r:embed="rId3"/>
          <a:stretch>
            <a:fillRect/>
          </a:stretch>
        </p:blipFill>
        <p:spPr>
          <a:xfrm>
            <a:off x="5967211" y="883256"/>
            <a:ext cx="5593666" cy="37082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320ED1EA-8EC5-C019-3FFC-CDD8B6631422}"/>
              </a:ext>
            </a:extLst>
          </p:cNvPr>
          <p:cNvSpPr txBox="1"/>
          <p:nvPr/>
        </p:nvSpPr>
        <p:spPr>
          <a:xfrm>
            <a:off x="435078" y="5122606"/>
            <a:ext cx="5100484" cy="153888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Regional contribution visualized on US map:</a:t>
            </a:r>
          </a:p>
          <a:p>
            <a:r>
              <a:rPr lang="en-US" sz="2000" dirty="0">
                <a:latin typeface="Times New Roman" panose="02020603050405020304" pitchFamily="18" charset="0"/>
                <a:cs typeface="Times New Roman" panose="02020603050405020304" pitchFamily="18" charset="0"/>
              </a:rPr>
              <a:t>- Strong sales in West and Southeast regions.</a:t>
            </a:r>
          </a:p>
          <a:p>
            <a:r>
              <a:rPr lang="en-US" sz="2000" dirty="0">
                <a:latin typeface="Times New Roman" panose="02020603050405020304" pitchFamily="18" charset="0"/>
                <a:cs typeface="Times New Roman" panose="02020603050405020304" pitchFamily="18" charset="0"/>
              </a:rPr>
              <a:t>- Northeast and Midwest moderate sales.</a:t>
            </a:r>
          </a:p>
          <a:p>
            <a:r>
              <a:rPr lang="en-US" sz="2000" dirty="0">
                <a:latin typeface="Times New Roman" panose="02020603050405020304" pitchFamily="18" charset="0"/>
                <a:cs typeface="Times New Roman" panose="02020603050405020304" pitchFamily="18" charset="0"/>
              </a:rPr>
              <a:t>- South contributes steadily across categories.</a:t>
            </a:r>
          </a:p>
          <a:p>
            <a:endParaRPr lang="en-IN" dirty="0"/>
          </a:p>
        </p:txBody>
      </p:sp>
      <p:sp>
        <p:nvSpPr>
          <p:cNvPr id="9" name="TextBox 8">
            <a:extLst>
              <a:ext uri="{FF2B5EF4-FFF2-40B4-BE49-F238E27FC236}">
                <a16:creationId xmlns:a16="http://schemas.microsoft.com/office/drawing/2014/main" id="{CDDCA5AE-F21B-08E7-DBE7-44C66FAB8452}"/>
              </a:ext>
            </a:extLst>
          </p:cNvPr>
          <p:cNvSpPr txBox="1"/>
          <p:nvPr/>
        </p:nvSpPr>
        <p:spPr>
          <a:xfrm>
            <a:off x="5792690" y="4907163"/>
            <a:ext cx="5768187" cy="1754326"/>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 Men's Street Footwear: 23.21%</a:t>
            </a:r>
          </a:p>
          <a:p>
            <a:r>
              <a:rPr lang="en-US" sz="1800" dirty="0">
                <a:latin typeface="Times New Roman" panose="02020603050405020304" pitchFamily="18" charset="0"/>
                <a:cs typeface="Times New Roman" panose="02020603050405020304" pitchFamily="18" charset="0"/>
              </a:rPr>
              <a:t>- Women's Apparel: 19.9%</a:t>
            </a:r>
          </a:p>
          <a:p>
            <a:r>
              <a:rPr lang="en-US" sz="1800" dirty="0">
                <a:latin typeface="Times New Roman" panose="02020603050405020304" pitchFamily="18" charset="0"/>
                <a:cs typeface="Times New Roman" panose="02020603050405020304" pitchFamily="18" charset="0"/>
              </a:rPr>
              <a:t>- Men's Athletic Footwear: 17.08%</a:t>
            </a:r>
          </a:p>
          <a:p>
            <a:r>
              <a:rPr lang="en-US" sz="1800" dirty="0">
                <a:latin typeface="Times New Roman" panose="02020603050405020304" pitchFamily="18" charset="0"/>
                <a:cs typeface="Times New Roman" panose="02020603050405020304" pitchFamily="18" charset="0"/>
              </a:rPr>
              <a:t>- Women's Street Footwear: 14.22%</a:t>
            </a:r>
          </a:p>
          <a:p>
            <a:r>
              <a:rPr lang="en-US" sz="1800" dirty="0">
                <a:latin typeface="Times New Roman" panose="02020603050405020304" pitchFamily="18" charset="0"/>
                <a:cs typeface="Times New Roman" panose="02020603050405020304" pitchFamily="18" charset="0"/>
              </a:rPr>
              <a:t>- Men's Apparel: 13.75%</a:t>
            </a:r>
          </a:p>
          <a:p>
            <a:r>
              <a:rPr lang="en-US" sz="1800" dirty="0">
                <a:latin typeface="Times New Roman" panose="02020603050405020304" pitchFamily="18" charset="0"/>
                <a:cs typeface="Times New Roman" panose="02020603050405020304" pitchFamily="18" charset="0"/>
              </a:rPr>
              <a:t>- Women's Athletic Footwear: 11.85</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C11BDDA-009A-581C-ECE4-F07060674D50}"/>
              </a:ext>
            </a:extLst>
          </p:cNvPr>
          <p:cNvPicPr>
            <a:picLocks noChangeAspect="1"/>
          </p:cNvPicPr>
          <p:nvPr/>
        </p:nvPicPr>
        <p:blipFill>
          <a:blip r:embed="rId4"/>
          <a:stretch>
            <a:fillRect/>
          </a:stretch>
        </p:blipFill>
        <p:spPr>
          <a:xfrm>
            <a:off x="8676784" y="6219736"/>
            <a:ext cx="3515216" cy="638264"/>
          </a:xfrm>
          <a:prstGeom prst="rect">
            <a:avLst/>
          </a:prstGeom>
        </p:spPr>
      </p:pic>
      <p:pic>
        <p:nvPicPr>
          <p:cNvPr id="13" name="Picture 12">
            <a:extLst>
              <a:ext uri="{FF2B5EF4-FFF2-40B4-BE49-F238E27FC236}">
                <a16:creationId xmlns:a16="http://schemas.microsoft.com/office/drawing/2014/main" id="{CD76A7F9-26AA-F3C4-ABC0-D5ED8D39CC9E}"/>
              </a:ext>
            </a:extLst>
          </p:cNvPr>
          <p:cNvPicPr>
            <a:picLocks noChangeAspect="1"/>
          </p:cNvPicPr>
          <p:nvPr/>
        </p:nvPicPr>
        <p:blipFill>
          <a:blip r:embed="rId5"/>
          <a:stretch>
            <a:fillRect/>
          </a:stretch>
        </p:blipFill>
        <p:spPr>
          <a:xfrm>
            <a:off x="8676783" y="6356938"/>
            <a:ext cx="1047896" cy="228632"/>
          </a:xfrm>
          <a:prstGeom prst="rect">
            <a:avLst/>
          </a:prstGeom>
        </p:spPr>
      </p:pic>
    </p:spTree>
    <p:extLst>
      <p:ext uri="{BB962C8B-B14F-4D97-AF65-F5344CB8AC3E}">
        <p14:creationId xmlns:p14="http://schemas.microsoft.com/office/powerpoint/2010/main" val="611665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EF640-26EA-888B-6587-7A6F246F23B3}"/>
              </a:ext>
            </a:extLst>
          </p:cNvPr>
          <p:cNvSpPr>
            <a:spLocks noGrp="1"/>
          </p:cNvSpPr>
          <p:nvPr>
            <p:ph type="title"/>
          </p:nvPr>
        </p:nvSpPr>
        <p:spPr/>
        <p:txBody>
          <a:bodyPr>
            <a:normAutofit/>
          </a:bodyPr>
          <a:lstStyle/>
          <a:p>
            <a:pPr algn="ctr"/>
            <a:r>
              <a:rPr lang="en-IN" sz="5400" b="1" dirty="0">
                <a:solidFill>
                  <a:srgbClr val="FF0000"/>
                </a:solidFill>
              </a:rPr>
              <a:t>Conclusion &amp; Strategic Insights</a:t>
            </a:r>
          </a:p>
        </p:txBody>
      </p:sp>
      <p:sp>
        <p:nvSpPr>
          <p:cNvPr id="3" name="Text Placeholder 2">
            <a:extLst>
              <a:ext uri="{FF2B5EF4-FFF2-40B4-BE49-F238E27FC236}">
                <a16:creationId xmlns:a16="http://schemas.microsoft.com/office/drawing/2014/main" id="{7F9D6374-CE83-95F2-BCD0-1DFE54538ED7}"/>
              </a:ext>
            </a:extLst>
          </p:cNvPr>
          <p:cNvSpPr>
            <a:spLocks noGrp="1"/>
          </p:cNvSpPr>
          <p:nvPr>
            <p:ph type="body" idx="1"/>
          </p:nvPr>
        </p:nvSpPr>
        <p:spPr/>
        <p:txBody>
          <a:bodyPr/>
          <a:lstStyle/>
          <a:p>
            <a:pPr algn="just"/>
            <a:r>
              <a:rPr lang="en-US" dirty="0">
                <a:latin typeface="Times New Roman" panose="02020603050405020304" pitchFamily="18" charset="0"/>
                <a:cs typeface="Times New Roman" panose="02020603050405020304" pitchFamily="18" charset="0"/>
              </a:rPr>
              <a:t>Adidas maintains strong sales through in-store channels.</a:t>
            </a:r>
          </a:p>
          <a:p>
            <a:pPr algn="just"/>
            <a:r>
              <a:rPr lang="en-US" dirty="0">
                <a:latin typeface="Times New Roman" panose="02020603050405020304" pitchFamily="18" charset="0"/>
                <a:cs typeface="Times New Roman" panose="02020603050405020304" pitchFamily="18" charset="0"/>
              </a:rPr>
              <a:t>Online sales provide room for growth with targeted strategies.</a:t>
            </a:r>
          </a:p>
          <a:p>
            <a:pPr algn="just"/>
            <a:r>
              <a:rPr lang="en-US" dirty="0">
                <a:latin typeface="Times New Roman" panose="02020603050405020304" pitchFamily="18" charset="0"/>
                <a:cs typeface="Times New Roman" panose="02020603050405020304" pitchFamily="18" charset="0"/>
              </a:rPr>
              <a:t>Seasonal trends should guide promotional activities.</a:t>
            </a:r>
          </a:p>
          <a:p>
            <a:pPr algn="just"/>
            <a:r>
              <a:rPr lang="en-US" dirty="0">
                <a:latin typeface="Times New Roman" panose="02020603050405020304" pitchFamily="18" charset="0"/>
                <a:cs typeface="Times New Roman" panose="02020603050405020304" pitchFamily="18" charset="0"/>
              </a:rPr>
              <a:t>Regional focus on West and Southeast can maximize returns.</a:t>
            </a:r>
          </a:p>
          <a:p>
            <a:pPr algn="just"/>
            <a:r>
              <a:rPr lang="en-US" dirty="0">
                <a:latin typeface="Times New Roman" panose="02020603050405020304" pitchFamily="18" charset="0"/>
                <a:cs typeface="Times New Roman" panose="02020603050405020304" pitchFamily="18" charset="0"/>
              </a:rPr>
              <a:t>Retailer partnerships (West Gear, Foot Locker) are critical to profit growth.</a:t>
            </a:r>
          </a:p>
        </p:txBody>
      </p:sp>
    </p:spTree>
    <p:extLst>
      <p:ext uri="{BB962C8B-B14F-4D97-AF65-F5344CB8AC3E}">
        <p14:creationId xmlns:p14="http://schemas.microsoft.com/office/powerpoint/2010/main" val="29203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TotalTime>
  <Words>710</Words>
  <Application>Microsoft Office PowerPoint</Application>
  <PresentationFormat>Widescreen</PresentationFormat>
  <Paragraphs>69</Paragraphs>
  <Slides>14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Wingdings</vt:lpstr>
      <vt:lpstr>Times New Roman</vt:lpstr>
      <vt:lpstr>Calibri</vt:lpstr>
      <vt:lpstr>Arial</vt:lpstr>
      <vt:lpstr>Libre Baskerville</vt:lpstr>
      <vt:lpstr>Office Theme</vt:lpstr>
      <vt:lpstr>PowerPoint Presentation</vt:lpstr>
      <vt:lpstr>Agenda</vt:lpstr>
      <vt:lpstr>objective</vt:lpstr>
      <vt:lpstr>Tools Used</vt:lpstr>
      <vt:lpstr>Dataset Overview</vt:lpstr>
      <vt:lpstr>Dashboard Overview</vt:lpstr>
      <vt:lpstr>PowerPoint Presentation</vt:lpstr>
      <vt:lpstr>Key Performance Indicators </vt:lpstr>
      <vt:lpstr>Sales Performance by Month</vt:lpstr>
      <vt:lpstr>Sales Method Comparison</vt:lpstr>
      <vt:lpstr>Operating Profit Analysis by Retailer and Region</vt:lpstr>
      <vt:lpstr>Sales by Region &amp; Sales by Product</vt:lpstr>
      <vt:lpstr>Conclusion &amp; Strategic Insights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arunsai pasupuleti</cp:lastModifiedBy>
  <cp:revision>9</cp:revision>
  <dcterms:created xsi:type="dcterms:W3CDTF">2021-02-16T05:19:01Z</dcterms:created>
  <dcterms:modified xsi:type="dcterms:W3CDTF">2025-09-13T11:30:30Z</dcterms:modified>
</cp:coreProperties>
</file>